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443" autoAdjust="0"/>
  </p:normalViewPr>
  <p:slideViewPr>
    <p:cSldViewPr snapToGrid="0">
      <p:cViewPr varScale="1">
        <p:scale>
          <a:sx n="117" d="100"/>
          <a:sy n="117" d="100"/>
        </p:scale>
        <p:origin x="100"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30E10F-89D8-477F-98B4-DB25EC4A25D5}" type="datetimeFigureOut">
              <a:rPr lang="en-US" smtClean="0"/>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284CD5-3037-4DA8-A721-2B6DD41AFE0D}" type="slidenum">
              <a:rPr lang="en-US" smtClean="0"/>
              <a:t>‹#›</a:t>
            </a:fld>
            <a:endParaRPr lang="en-US"/>
          </a:p>
        </p:txBody>
      </p:sp>
    </p:spTree>
    <p:extLst>
      <p:ext uri="{BB962C8B-B14F-4D97-AF65-F5344CB8AC3E}">
        <p14:creationId xmlns:p14="http://schemas.microsoft.com/office/powerpoint/2010/main" val="3523771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Snowbridge gives business users a controlled way to request approved Snowflake operations in natural language. The key message is not unrestricted AI access. AI interprets intent, while deterministic application code controls what may execute.</a:t>
            </a:r>
          </a:p>
        </p:txBody>
      </p:sp>
      <p:sp>
        <p:nvSpPr>
          <p:cNvPr id="4" name="Slide Number Placeholder 3"/>
          <p:cNvSpPr>
            <a:spLocks noGrp="1"/>
          </p:cNvSpPr>
          <p:nvPr>
            <p:ph type="sldNum" sz="quarter" idx="5"/>
          </p:nvPr>
        </p:nvSpPr>
        <p:spPr/>
        <p:txBody>
          <a:bodyPr/>
          <a:lstStyle/>
          <a:p>
            <a:fld id="{E3284CD5-3037-4DA8-A721-2B6DD41AFE0D}" type="slidenum">
              <a:rPr lang="en-US" smtClean="0"/>
              <a:t>1</a:t>
            </a:fld>
            <a:endParaRPr lang="en-US"/>
          </a:p>
        </p:txBody>
      </p:sp>
    </p:spTree>
    <p:extLst>
      <p:ext uri="{BB962C8B-B14F-4D97-AF65-F5344CB8AC3E}">
        <p14:creationId xmlns:p14="http://schemas.microsoft.com/office/powerpoint/2010/main" val="815954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business problem is not simply connectivity. Native connectors solve many copy scenarios. Snowbridge addresses the shared governance layer: consistent operations, validation, approval, and response contracts across multiple Azure orchestrators and users.</a:t>
            </a:r>
          </a:p>
        </p:txBody>
      </p:sp>
      <p:sp>
        <p:nvSpPr>
          <p:cNvPr id="4" name="Slide Number Placeholder 3"/>
          <p:cNvSpPr>
            <a:spLocks noGrp="1"/>
          </p:cNvSpPr>
          <p:nvPr>
            <p:ph type="sldNum" sz="quarter" idx="5"/>
          </p:nvPr>
        </p:nvSpPr>
        <p:spPr/>
        <p:txBody>
          <a:bodyPr/>
          <a:lstStyle/>
          <a:p>
            <a:fld id="{E3284CD5-3037-4DA8-A721-2B6DD41AFE0D}" type="slidenum">
              <a:rPr lang="en-US" smtClean="0"/>
              <a:t>2</a:t>
            </a:fld>
            <a:endParaRPr lang="en-US"/>
          </a:p>
        </p:txBody>
      </p:sp>
    </p:spTree>
    <p:extLst>
      <p:ext uri="{BB962C8B-B14F-4D97-AF65-F5344CB8AC3E}">
        <p14:creationId xmlns:p14="http://schemas.microsoft.com/office/powerpoint/2010/main" val="1970432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these four numbers as a memory device. One interface. Zero generated SQL. Three operations in the current MVP. One explicit approval gate. The operation catalog can grow without changing the governance model.</a:t>
            </a:r>
          </a:p>
        </p:txBody>
      </p:sp>
      <p:sp>
        <p:nvSpPr>
          <p:cNvPr id="4" name="Slide Number Placeholder 3"/>
          <p:cNvSpPr>
            <a:spLocks noGrp="1"/>
          </p:cNvSpPr>
          <p:nvPr>
            <p:ph type="sldNum" sz="quarter" idx="5"/>
          </p:nvPr>
        </p:nvSpPr>
        <p:spPr/>
        <p:txBody>
          <a:bodyPr/>
          <a:lstStyle/>
          <a:p>
            <a:fld id="{E3284CD5-3037-4DA8-A721-2B6DD41AFE0D}" type="slidenum">
              <a:rPr lang="en-US" smtClean="0"/>
              <a:t>3</a:t>
            </a:fld>
            <a:endParaRPr lang="en-US"/>
          </a:p>
        </p:txBody>
      </p:sp>
    </p:spTree>
    <p:extLst>
      <p:ext uri="{BB962C8B-B14F-4D97-AF65-F5344CB8AC3E}">
        <p14:creationId xmlns:p14="http://schemas.microsoft.com/office/powerpoint/2010/main" val="100415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left to right. Foundry produces a structured plan, not SQL. Deterministic validation checks the selected operation and parameters. The user approves. Only then does owned connector code execute a predefined operation.</a:t>
            </a:r>
          </a:p>
        </p:txBody>
      </p:sp>
      <p:sp>
        <p:nvSpPr>
          <p:cNvPr id="4" name="Slide Number Placeholder 3"/>
          <p:cNvSpPr>
            <a:spLocks noGrp="1"/>
          </p:cNvSpPr>
          <p:nvPr>
            <p:ph type="sldNum" sz="quarter" idx="5"/>
          </p:nvPr>
        </p:nvSpPr>
        <p:spPr/>
        <p:txBody>
          <a:bodyPr/>
          <a:lstStyle/>
          <a:p>
            <a:fld id="{E3284CD5-3037-4DA8-A721-2B6DD41AFE0D}" type="slidenum">
              <a:rPr lang="en-US" smtClean="0"/>
              <a:t>4</a:t>
            </a:fld>
            <a:endParaRPr lang="en-US"/>
          </a:p>
        </p:txBody>
      </p:sp>
    </p:spTree>
    <p:extLst>
      <p:ext uri="{BB962C8B-B14F-4D97-AF65-F5344CB8AC3E}">
        <p14:creationId xmlns:p14="http://schemas.microsoft.com/office/powerpoint/2010/main" val="4157004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customer-facing experience. The interface removes the need to manually wrap JSON in Swagger, but it does not remove the approval control. Swagger remains available separately for technical reviewers.</a:t>
            </a:r>
          </a:p>
        </p:txBody>
      </p:sp>
      <p:sp>
        <p:nvSpPr>
          <p:cNvPr id="4" name="Slide Number Placeholder 3"/>
          <p:cNvSpPr>
            <a:spLocks noGrp="1"/>
          </p:cNvSpPr>
          <p:nvPr>
            <p:ph type="sldNum" sz="quarter" idx="5"/>
          </p:nvPr>
        </p:nvSpPr>
        <p:spPr/>
        <p:txBody>
          <a:bodyPr/>
          <a:lstStyle/>
          <a:p>
            <a:fld id="{E3284CD5-3037-4DA8-A721-2B6DD41AFE0D}" type="slidenum">
              <a:rPr lang="en-US" smtClean="0"/>
              <a:t>5</a:t>
            </a:fld>
            <a:endParaRPr lang="en-US"/>
          </a:p>
        </p:txBody>
      </p:sp>
    </p:spTree>
    <p:extLst>
      <p:ext uri="{BB962C8B-B14F-4D97-AF65-F5344CB8AC3E}">
        <p14:creationId xmlns:p14="http://schemas.microsoft.com/office/powerpoint/2010/main" val="1374628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application runs as one Container App for the MVP. Its system-assigned managed identity has resource-scoped ACR Pull, Key Vault Secrets User, and Cognitive Services OpenAI User roles. Application Insights and Log Analytics provide monitoring.</a:t>
            </a:r>
          </a:p>
        </p:txBody>
      </p:sp>
      <p:sp>
        <p:nvSpPr>
          <p:cNvPr id="4" name="Slide Number Placeholder 3"/>
          <p:cNvSpPr>
            <a:spLocks noGrp="1"/>
          </p:cNvSpPr>
          <p:nvPr>
            <p:ph type="sldNum" sz="quarter" idx="5"/>
          </p:nvPr>
        </p:nvSpPr>
        <p:spPr/>
        <p:txBody>
          <a:bodyPr/>
          <a:lstStyle/>
          <a:p>
            <a:fld id="{E3284CD5-3037-4DA8-A721-2B6DD41AFE0D}" type="slidenum">
              <a:rPr lang="en-US" smtClean="0"/>
              <a:t>6</a:t>
            </a:fld>
            <a:endParaRPr lang="en-US"/>
          </a:p>
        </p:txBody>
      </p:sp>
    </p:spTree>
    <p:extLst>
      <p:ext uri="{BB962C8B-B14F-4D97-AF65-F5344CB8AC3E}">
        <p14:creationId xmlns:p14="http://schemas.microsoft.com/office/powerpoint/2010/main" val="1261280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Avoid saying the model is trusted because it is accurate. The safety story is architectural. Even an incorrect or malicious request must pass the catalog, deterministic validation, human confirmation, and owned connector logic.</a:t>
            </a:r>
          </a:p>
        </p:txBody>
      </p:sp>
      <p:sp>
        <p:nvSpPr>
          <p:cNvPr id="4" name="Slide Number Placeholder 3"/>
          <p:cNvSpPr>
            <a:spLocks noGrp="1"/>
          </p:cNvSpPr>
          <p:nvPr>
            <p:ph type="sldNum" sz="quarter" idx="5"/>
          </p:nvPr>
        </p:nvSpPr>
        <p:spPr/>
        <p:txBody>
          <a:bodyPr/>
          <a:lstStyle/>
          <a:p>
            <a:fld id="{E3284CD5-3037-4DA8-A721-2B6DD41AFE0D}" type="slidenum">
              <a:rPr lang="en-US" smtClean="0"/>
              <a:t>7</a:t>
            </a:fld>
            <a:endParaRPr lang="en-US"/>
          </a:p>
        </p:txBody>
      </p:sp>
    </p:spTree>
    <p:extLst>
      <p:ext uri="{BB962C8B-B14F-4D97-AF65-F5344CB8AC3E}">
        <p14:creationId xmlns:p14="http://schemas.microsoft.com/office/powerpoint/2010/main" val="721674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Keep the demo short. Start with a familiar usage question. Pause at the review state and reinforce that the model selected an approved operation. Then approve and show the result. Mention that the data is intentionally mocked for the hackathon environment.</a:t>
            </a:r>
          </a:p>
        </p:txBody>
      </p:sp>
      <p:sp>
        <p:nvSpPr>
          <p:cNvPr id="4" name="Slide Number Placeholder 3"/>
          <p:cNvSpPr>
            <a:spLocks noGrp="1"/>
          </p:cNvSpPr>
          <p:nvPr>
            <p:ph type="sldNum" sz="quarter" idx="5"/>
          </p:nvPr>
        </p:nvSpPr>
        <p:spPr/>
        <p:txBody>
          <a:bodyPr/>
          <a:lstStyle/>
          <a:p>
            <a:fld id="{E3284CD5-3037-4DA8-A721-2B6DD41AFE0D}" type="slidenum">
              <a:rPr lang="en-US" smtClean="0"/>
              <a:t>8</a:t>
            </a:fld>
            <a:endParaRPr lang="en-US"/>
          </a:p>
        </p:txBody>
      </p:sp>
    </p:spTree>
    <p:extLst>
      <p:ext uri="{BB962C8B-B14F-4D97-AF65-F5344CB8AC3E}">
        <p14:creationId xmlns:p14="http://schemas.microsoft.com/office/powerpoint/2010/main" val="3974029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by separating what is proven from what is next. The MVP proves the governed interaction, Foundry integration, managed identity, deployment, and API contracts. Production Snowflake connectivity and broader operations are deliberate next steps.</a:t>
            </a:r>
          </a:p>
        </p:txBody>
      </p:sp>
      <p:sp>
        <p:nvSpPr>
          <p:cNvPr id="4" name="Slide Number Placeholder 3"/>
          <p:cNvSpPr>
            <a:spLocks noGrp="1"/>
          </p:cNvSpPr>
          <p:nvPr>
            <p:ph type="sldNum" sz="quarter" idx="5"/>
          </p:nvPr>
        </p:nvSpPr>
        <p:spPr/>
        <p:txBody>
          <a:bodyPr/>
          <a:lstStyle/>
          <a:p>
            <a:fld id="{E3284CD5-3037-4DA8-A721-2B6DD41AFE0D}" type="slidenum">
              <a:rPr lang="en-US" smtClean="0"/>
              <a:t>9</a:t>
            </a:fld>
            <a:endParaRPr lang="en-US"/>
          </a:p>
        </p:txBody>
      </p:sp>
    </p:spTree>
    <p:extLst>
      <p:ext uri="{BB962C8B-B14F-4D97-AF65-F5344CB8AC3E}">
        <p14:creationId xmlns:p14="http://schemas.microsoft.com/office/powerpoint/2010/main" val="873067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27995-D909-D5F1-9464-0A26FED914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E1F324E-94AD-7996-C22D-1FB82F336E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14EAE36-E3C7-6106-3286-F818CC3BD649}"/>
              </a:ext>
            </a:extLst>
          </p:cNvPr>
          <p:cNvSpPr>
            <a:spLocks noGrp="1"/>
          </p:cNvSpPr>
          <p:nvPr>
            <p:ph type="dt" sz="half" idx="10"/>
          </p:nvPr>
        </p:nvSpPr>
        <p:spPr/>
        <p:txBody>
          <a:bodyPr/>
          <a:lstStyle/>
          <a:p>
            <a:fld id="{B4286AA7-27A4-49F7-91B6-3F981955BB3B}" type="datetimeFigureOut">
              <a:rPr lang="en-US" smtClean="0"/>
              <a:t>9/21/2026</a:t>
            </a:fld>
            <a:endParaRPr lang="en-US"/>
          </a:p>
        </p:txBody>
      </p:sp>
      <p:sp>
        <p:nvSpPr>
          <p:cNvPr id="5" name="Footer Placeholder 4">
            <a:extLst>
              <a:ext uri="{FF2B5EF4-FFF2-40B4-BE49-F238E27FC236}">
                <a16:creationId xmlns:a16="http://schemas.microsoft.com/office/drawing/2014/main" id="{65109018-970A-992B-0B33-7E522EA5EC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D5A2FF-2C0C-90D9-8065-93044139FC5F}"/>
              </a:ext>
            </a:extLst>
          </p:cNvPr>
          <p:cNvSpPr>
            <a:spLocks noGrp="1"/>
          </p:cNvSpPr>
          <p:nvPr>
            <p:ph type="sldNum" sz="quarter" idx="12"/>
          </p:nvPr>
        </p:nvSpPr>
        <p:spPr/>
        <p:txBody>
          <a:bodyPr/>
          <a:lstStyle/>
          <a:p>
            <a:fld id="{3306337A-04D1-4E07-AF98-6B62409D55CE}" type="slidenum">
              <a:rPr lang="en-US" smtClean="0"/>
              <a:t>‹#›</a:t>
            </a:fld>
            <a:endParaRPr lang="en-US"/>
          </a:p>
        </p:txBody>
      </p:sp>
    </p:spTree>
    <p:extLst>
      <p:ext uri="{BB962C8B-B14F-4D97-AF65-F5344CB8AC3E}">
        <p14:creationId xmlns:p14="http://schemas.microsoft.com/office/powerpoint/2010/main" val="3380714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04D97-C0D3-382F-CEB1-A74DB992B8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BFDAA7-22F2-5DBC-A51A-E57E68F15F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D3CE2B-6489-597B-5F23-C421BED75EEE}"/>
              </a:ext>
            </a:extLst>
          </p:cNvPr>
          <p:cNvSpPr>
            <a:spLocks noGrp="1"/>
          </p:cNvSpPr>
          <p:nvPr>
            <p:ph type="dt" sz="half" idx="10"/>
          </p:nvPr>
        </p:nvSpPr>
        <p:spPr/>
        <p:txBody>
          <a:bodyPr/>
          <a:lstStyle/>
          <a:p>
            <a:fld id="{B4286AA7-27A4-49F7-91B6-3F981955BB3B}" type="datetimeFigureOut">
              <a:rPr lang="en-US" smtClean="0"/>
              <a:t>9/21/2026</a:t>
            </a:fld>
            <a:endParaRPr lang="en-US"/>
          </a:p>
        </p:txBody>
      </p:sp>
      <p:sp>
        <p:nvSpPr>
          <p:cNvPr id="5" name="Footer Placeholder 4">
            <a:extLst>
              <a:ext uri="{FF2B5EF4-FFF2-40B4-BE49-F238E27FC236}">
                <a16:creationId xmlns:a16="http://schemas.microsoft.com/office/drawing/2014/main" id="{D72E6EAF-CD98-4A99-7BDD-4A5E22B6CA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4187BE-1104-D1A5-7495-4AEE73AB3A26}"/>
              </a:ext>
            </a:extLst>
          </p:cNvPr>
          <p:cNvSpPr>
            <a:spLocks noGrp="1"/>
          </p:cNvSpPr>
          <p:nvPr>
            <p:ph type="sldNum" sz="quarter" idx="12"/>
          </p:nvPr>
        </p:nvSpPr>
        <p:spPr/>
        <p:txBody>
          <a:bodyPr/>
          <a:lstStyle/>
          <a:p>
            <a:fld id="{3306337A-04D1-4E07-AF98-6B62409D55CE}" type="slidenum">
              <a:rPr lang="en-US" smtClean="0"/>
              <a:t>‹#›</a:t>
            </a:fld>
            <a:endParaRPr lang="en-US"/>
          </a:p>
        </p:txBody>
      </p:sp>
    </p:spTree>
    <p:extLst>
      <p:ext uri="{BB962C8B-B14F-4D97-AF65-F5344CB8AC3E}">
        <p14:creationId xmlns:p14="http://schemas.microsoft.com/office/powerpoint/2010/main" val="3207337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C9174-C9D5-3B45-A188-5918847EE6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5BBF6D-4FE4-1D5A-9853-23B0624D5D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80F41E-E33F-3F62-0E95-BD6EAD684D84}"/>
              </a:ext>
            </a:extLst>
          </p:cNvPr>
          <p:cNvSpPr>
            <a:spLocks noGrp="1"/>
          </p:cNvSpPr>
          <p:nvPr>
            <p:ph type="dt" sz="half" idx="10"/>
          </p:nvPr>
        </p:nvSpPr>
        <p:spPr/>
        <p:txBody>
          <a:bodyPr/>
          <a:lstStyle/>
          <a:p>
            <a:fld id="{B4286AA7-27A4-49F7-91B6-3F981955BB3B}" type="datetimeFigureOut">
              <a:rPr lang="en-US" smtClean="0"/>
              <a:t>9/21/2026</a:t>
            </a:fld>
            <a:endParaRPr lang="en-US"/>
          </a:p>
        </p:txBody>
      </p:sp>
      <p:sp>
        <p:nvSpPr>
          <p:cNvPr id="5" name="Footer Placeholder 4">
            <a:extLst>
              <a:ext uri="{FF2B5EF4-FFF2-40B4-BE49-F238E27FC236}">
                <a16:creationId xmlns:a16="http://schemas.microsoft.com/office/drawing/2014/main" id="{018D4825-1839-9725-41FE-BBEB8913D2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EBA494-2EC4-081D-FC62-2298804BF8B5}"/>
              </a:ext>
            </a:extLst>
          </p:cNvPr>
          <p:cNvSpPr>
            <a:spLocks noGrp="1"/>
          </p:cNvSpPr>
          <p:nvPr>
            <p:ph type="sldNum" sz="quarter" idx="12"/>
          </p:nvPr>
        </p:nvSpPr>
        <p:spPr/>
        <p:txBody>
          <a:bodyPr/>
          <a:lstStyle/>
          <a:p>
            <a:fld id="{3306337A-04D1-4E07-AF98-6B62409D55CE}" type="slidenum">
              <a:rPr lang="en-US" smtClean="0"/>
              <a:t>‹#›</a:t>
            </a:fld>
            <a:endParaRPr lang="en-US"/>
          </a:p>
        </p:txBody>
      </p:sp>
    </p:spTree>
    <p:extLst>
      <p:ext uri="{BB962C8B-B14F-4D97-AF65-F5344CB8AC3E}">
        <p14:creationId xmlns:p14="http://schemas.microsoft.com/office/powerpoint/2010/main" val="2488563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3315E-89FC-BA67-1732-B518D9D2A4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9D4899-DA1C-7DB9-69D6-8CA8A72822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060648-C7B7-337D-FF07-BE60F4EC40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D80EBA-73D2-0F62-563A-6B031512DFC4}"/>
              </a:ext>
            </a:extLst>
          </p:cNvPr>
          <p:cNvSpPr>
            <a:spLocks noGrp="1"/>
          </p:cNvSpPr>
          <p:nvPr>
            <p:ph type="dt" sz="half" idx="10"/>
          </p:nvPr>
        </p:nvSpPr>
        <p:spPr/>
        <p:txBody>
          <a:bodyPr/>
          <a:lstStyle/>
          <a:p>
            <a:fld id="{B4286AA7-27A4-49F7-91B6-3F981955BB3B}" type="datetimeFigureOut">
              <a:rPr lang="en-US" smtClean="0"/>
              <a:t>9/21/2026</a:t>
            </a:fld>
            <a:endParaRPr lang="en-US"/>
          </a:p>
        </p:txBody>
      </p:sp>
      <p:sp>
        <p:nvSpPr>
          <p:cNvPr id="6" name="Footer Placeholder 5">
            <a:extLst>
              <a:ext uri="{FF2B5EF4-FFF2-40B4-BE49-F238E27FC236}">
                <a16:creationId xmlns:a16="http://schemas.microsoft.com/office/drawing/2014/main" id="{6DFF6518-18B9-7671-F187-CD5E94D002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F61326-DFD4-869F-4160-88960857EE1E}"/>
              </a:ext>
            </a:extLst>
          </p:cNvPr>
          <p:cNvSpPr>
            <a:spLocks noGrp="1"/>
          </p:cNvSpPr>
          <p:nvPr>
            <p:ph type="sldNum" sz="quarter" idx="12"/>
          </p:nvPr>
        </p:nvSpPr>
        <p:spPr/>
        <p:txBody>
          <a:bodyPr/>
          <a:lstStyle/>
          <a:p>
            <a:fld id="{3306337A-04D1-4E07-AF98-6B62409D55CE}" type="slidenum">
              <a:rPr lang="en-US" smtClean="0"/>
              <a:t>‹#›</a:t>
            </a:fld>
            <a:endParaRPr lang="en-US"/>
          </a:p>
        </p:txBody>
      </p:sp>
    </p:spTree>
    <p:extLst>
      <p:ext uri="{BB962C8B-B14F-4D97-AF65-F5344CB8AC3E}">
        <p14:creationId xmlns:p14="http://schemas.microsoft.com/office/powerpoint/2010/main" val="1476444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E9D5-0565-C4B7-8968-DDC8E1D729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3193CD9-25B7-A9B2-EBEB-623DF5EB86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666E69-97FF-0139-D024-8320811CF9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91513E-21E8-854F-CBA1-48B2361445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96ECBD-1DBE-E8A8-88F1-7E89D3EAA9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502398-9803-3D25-2DB5-A6AF77F82372}"/>
              </a:ext>
            </a:extLst>
          </p:cNvPr>
          <p:cNvSpPr>
            <a:spLocks noGrp="1"/>
          </p:cNvSpPr>
          <p:nvPr>
            <p:ph type="dt" sz="half" idx="10"/>
          </p:nvPr>
        </p:nvSpPr>
        <p:spPr/>
        <p:txBody>
          <a:bodyPr/>
          <a:lstStyle/>
          <a:p>
            <a:fld id="{B4286AA7-27A4-49F7-91B6-3F981955BB3B}" type="datetimeFigureOut">
              <a:rPr lang="en-US" smtClean="0"/>
              <a:t>9/21/2026</a:t>
            </a:fld>
            <a:endParaRPr lang="en-US"/>
          </a:p>
        </p:txBody>
      </p:sp>
      <p:sp>
        <p:nvSpPr>
          <p:cNvPr id="8" name="Footer Placeholder 7">
            <a:extLst>
              <a:ext uri="{FF2B5EF4-FFF2-40B4-BE49-F238E27FC236}">
                <a16:creationId xmlns:a16="http://schemas.microsoft.com/office/drawing/2014/main" id="{D16EEC44-01C8-30A4-CDF0-B7F7FCC482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FAEC6EB-4216-6AE8-2FCD-73B194F7354D}"/>
              </a:ext>
            </a:extLst>
          </p:cNvPr>
          <p:cNvSpPr>
            <a:spLocks noGrp="1"/>
          </p:cNvSpPr>
          <p:nvPr>
            <p:ph type="sldNum" sz="quarter" idx="12"/>
          </p:nvPr>
        </p:nvSpPr>
        <p:spPr/>
        <p:txBody>
          <a:bodyPr/>
          <a:lstStyle/>
          <a:p>
            <a:fld id="{3306337A-04D1-4E07-AF98-6B62409D55CE}" type="slidenum">
              <a:rPr lang="en-US" smtClean="0"/>
              <a:t>‹#›</a:t>
            </a:fld>
            <a:endParaRPr lang="en-US"/>
          </a:p>
        </p:txBody>
      </p:sp>
    </p:spTree>
    <p:extLst>
      <p:ext uri="{BB962C8B-B14F-4D97-AF65-F5344CB8AC3E}">
        <p14:creationId xmlns:p14="http://schemas.microsoft.com/office/powerpoint/2010/main" val="1133090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A6407-F9BD-25EE-8EB7-6A0A595D2D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B5027B-DA6E-80D9-8D5B-E524523737A3}"/>
              </a:ext>
            </a:extLst>
          </p:cNvPr>
          <p:cNvSpPr>
            <a:spLocks noGrp="1"/>
          </p:cNvSpPr>
          <p:nvPr>
            <p:ph type="dt" sz="half" idx="10"/>
          </p:nvPr>
        </p:nvSpPr>
        <p:spPr/>
        <p:txBody>
          <a:bodyPr/>
          <a:lstStyle/>
          <a:p>
            <a:fld id="{B4286AA7-27A4-49F7-91B6-3F981955BB3B}" type="datetimeFigureOut">
              <a:rPr lang="en-US" smtClean="0"/>
              <a:t>9/21/2026</a:t>
            </a:fld>
            <a:endParaRPr lang="en-US"/>
          </a:p>
        </p:txBody>
      </p:sp>
      <p:sp>
        <p:nvSpPr>
          <p:cNvPr id="4" name="Footer Placeholder 3">
            <a:extLst>
              <a:ext uri="{FF2B5EF4-FFF2-40B4-BE49-F238E27FC236}">
                <a16:creationId xmlns:a16="http://schemas.microsoft.com/office/drawing/2014/main" id="{2CF1A927-7A7B-D469-AF57-725B7C8BCC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EA00E6B-5D82-5662-0F24-6C9CA073EEEF}"/>
              </a:ext>
            </a:extLst>
          </p:cNvPr>
          <p:cNvSpPr>
            <a:spLocks noGrp="1"/>
          </p:cNvSpPr>
          <p:nvPr>
            <p:ph type="sldNum" sz="quarter" idx="12"/>
          </p:nvPr>
        </p:nvSpPr>
        <p:spPr/>
        <p:txBody>
          <a:bodyPr/>
          <a:lstStyle/>
          <a:p>
            <a:fld id="{3306337A-04D1-4E07-AF98-6B62409D55CE}" type="slidenum">
              <a:rPr lang="en-US" smtClean="0"/>
              <a:t>‹#›</a:t>
            </a:fld>
            <a:endParaRPr lang="en-US"/>
          </a:p>
        </p:txBody>
      </p:sp>
    </p:spTree>
    <p:extLst>
      <p:ext uri="{BB962C8B-B14F-4D97-AF65-F5344CB8AC3E}">
        <p14:creationId xmlns:p14="http://schemas.microsoft.com/office/powerpoint/2010/main" val="2678194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521B27-5EFD-4404-E25B-DF2145608465}"/>
              </a:ext>
            </a:extLst>
          </p:cNvPr>
          <p:cNvSpPr>
            <a:spLocks noGrp="1"/>
          </p:cNvSpPr>
          <p:nvPr>
            <p:ph type="dt" sz="half" idx="10"/>
          </p:nvPr>
        </p:nvSpPr>
        <p:spPr/>
        <p:txBody>
          <a:bodyPr/>
          <a:lstStyle/>
          <a:p>
            <a:fld id="{B4286AA7-27A4-49F7-91B6-3F981955BB3B}" type="datetimeFigureOut">
              <a:rPr lang="en-US" smtClean="0"/>
              <a:t>9/21/2026</a:t>
            </a:fld>
            <a:endParaRPr lang="en-US"/>
          </a:p>
        </p:txBody>
      </p:sp>
      <p:sp>
        <p:nvSpPr>
          <p:cNvPr id="3" name="Footer Placeholder 2">
            <a:extLst>
              <a:ext uri="{FF2B5EF4-FFF2-40B4-BE49-F238E27FC236}">
                <a16:creationId xmlns:a16="http://schemas.microsoft.com/office/drawing/2014/main" id="{8CC0F78C-80C7-F4FE-3E51-A501D9B52D1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99033B-E2F8-1E37-B680-CEB52BA4C5B9}"/>
              </a:ext>
            </a:extLst>
          </p:cNvPr>
          <p:cNvSpPr>
            <a:spLocks noGrp="1"/>
          </p:cNvSpPr>
          <p:nvPr>
            <p:ph type="sldNum" sz="quarter" idx="12"/>
          </p:nvPr>
        </p:nvSpPr>
        <p:spPr/>
        <p:txBody>
          <a:bodyPr/>
          <a:lstStyle/>
          <a:p>
            <a:fld id="{3306337A-04D1-4E07-AF98-6B62409D55CE}" type="slidenum">
              <a:rPr lang="en-US" smtClean="0"/>
              <a:t>‹#›</a:t>
            </a:fld>
            <a:endParaRPr lang="en-US"/>
          </a:p>
        </p:txBody>
      </p:sp>
    </p:spTree>
    <p:extLst>
      <p:ext uri="{BB962C8B-B14F-4D97-AF65-F5344CB8AC3E}">
        <p14:creationId xmlns:p14="http://schemas.microsoft.com/office/powerpoint/2010/main" val="706879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4B77F-61A4-93E2-BC64-D5A0BFA134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ABA633-B455-0FDE-4E2E-71973CD53F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BF69FC-E0BD-481A-0A09-4D49A1EAD3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1598A8-F89F-2750-D821-B12FDAA98E19}"/>
              </a:ext>
            </a:extLst>
          </p:cNvPr>
          <p:cNvSpPr>
            <a:spLocks noGrp="1"/>
          </p:cNvSpPr>
          <p:nvPr>
            <p:ph type="dt" sz="half" idx="10"/>
          </p:nvPr>
        </p:nvSpPr>
        <p:spPr/>
        <p:txBody>
          <a:bodyPr/>
          <a:lstStyle/>
          <a:p>
            <a:fld id="{B4286AA7-27A4-49F7-91B6-3F981955BB3B}" type="datetimeFigureOut">
              <a:rPr lang="en-US" smtClean="0"/>
              <a:t>9/21/2026</a:t>
            </a:fld>
            <a:endParaRPr lang="en-US"/>
          </a:p>
        </p:txBody>
      </p:sp>
      <p:sp>
        <p:nvSpPr>
          <p:cNvPr id="6" name="Footer Placeholder 5">
            <a:extLst>
              <a:ext uri="{FF2B5EF4-FFF2-40B4-BE49-F238E27FC236}">
                <a16:creationId xmlns:a16="http://schemas.microsoft.com/office/drawing/2014/main" id="{6F4707FB-E722-01A2-621E-6A7C6404E1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D21CE8-86F0-6563-E210-D5DC02EA526E}"/>
              </a:ext>
            </a:extLst>
          </p:cNvPr>
          <p:cNvSpPr>
            <a:spLocks noGrp="1"/>
          </p:cNvSpPr>
          <p:nvPr>
            <p:ph type="sldNum" sz="quarter" idx="12"/>
          </p:nvPr>
        </p:nvSpPr>
        <p:spPr/>
        <p:txBody>
          <a:bodyPr/>
          <a:lstStyle/>
          <a:p>
            <a:fld id="{3306337A-04D1-4E07-AF98-6B62409D55CE}" type="slidenum">
              <a:rPr lang="en-US" smtClean="0"/>
              <a:t>‹#›</a:t>
            </a:fld>
            <a:endParaRPr lang="en-US"/>
          </a:p>
        </p:txBody>
      </p:sp>
    </p:spTree>
    <p:extLst>
      <p:ext uri="{BB962C8B-B14F-4D97-AF65-F5344CB8AC3E}">
        <p14:creationId xmlns:p14="http://schemas.microsoft.com/office/powerpoint/2010/main" val="2806570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5BA65-B795-0ACF-85F2-4AFF46DB40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AF6CDE-A445-789C-ED64-2794A939F86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7E4B6C-3EFB-A21C-08A4-3498BC73D3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A6044E-A810-0BA4-B43C-BEBEC1B52460}"/>
              </a:ext>
            </a:extLst>
          </p:cNvPr>
          <p:cNvSpPr>
            <a:spLocks noGrp="1"/>
          </p:cNvSpPr>
          <p:nvPr>
            <p:ph type="dt" sz="half" idx="10"/>
          </p:nvPr>
        </p:nvSpPr>
        <p:spPr/>
        <p:txBody>
          <a:bodyPr/>
          <a:lstStyle/>
          <a:p>
            <a:fld id="{B4286AA7-27A4-49F7-91B6-3F981955BB3B}" type="datetimeFigureOut">
              <a:rPr lang="en-US" smtClean="0"/>
              <a:t>9/21/2026</a:t>
            </a:fld>
            <a:endParaRPr lang="en-US"/>
          </a:p>
        </p:txBody>
      </p:sp>
      <p:sp>
        <p:nvSpPr>
          <p:cNvPr id="6" name="Footer Placeholder 5">
            <a:extLst>
              <a:ext uri="{FF2B5EF4-FFF2-40B4-BE49-F238E27FC236}">
                <a16:creationId xmlns:a16="http://schemas.microsoft.com/office/drawing/2014/main" id="{33487B41-3BE6-7704-E3FF-FC58F3A1AE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1DE4E5-57C1-E8B3-384C-0B126B36183D}"/>
              </a:ext>
            </a:extLst>
          </p:cNvPr>
          <p:cNvSpPr>
            <a:spLocks noGrp="1"/>
          </p:cNvSpPr>
          <p:nvPr>
            <p:ph type="sldNum" sz="quarter" idx="12"/>
          </p:nvPr>
        </p:nvSpPr>
        <p:spPr/>
        <p:txBody>
          <a:bodyPr/>
          <a:lstStyle/>
          <a:p>
            <a:fld id="{3306337A-04D1-4E07-AF98-6B62409D55CE}" type="slidenum">
              <a:rPr lang="en-US" smtClean="0"/>
              <a:t>‹#›</a:t>
            </a:fld>
            <a:endParaRPr lang="en-US"/>
          </a:p>
        </p:txBody>
      </p:sp>
    </p:spTree>
    <p:extLst>
      <p:ext uri="{BB962C8B-B14F-4D97-AF65-F5344CB8AC3E}">
        <p14:creationId xmlns:p14="http://schemas.microsoft.com/office/powerpoint/2010/main" val="954838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C0E1E-D830-4CE6-3721-BBEF38F1B4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FA0802-E76D-8BD9-6E25-82B005CC3A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CFFDC0-C02B-C1F6-5D5D-2225106B889B}"/>
              </a:ext>
            </a:extLst>
          </p:cNvPr>
          <p:cNvSpPr>
            <a:spLocks noGrp="1"/>
          </p:cNvSpPr>
          <p:nvPr>
            <p:ph type="dt" sz="half" idx="10"/>
          </p:nvPr>
        </p:nvSpPr>
        <p:spPr/>
        <p:txBody>
          <a:bodyPr/>
          <a:lstStyle/>
          <a:p>
            <a:fld id="{B4286AA7-27A4-49F7-91B6-3F981955BB3B}" type="datetimeFigureOut">
              <a:rPr lang="en-US" smtClean="0"/>
              <a:t>9/21/2026</a:t>
            </a:fld>
            <a:endParaRPr lang="en-US"/>
          </a:p>
        </p:txBody>
      </p:sp>
      <p:sp>
        <p:nvSpPr>
          <p:cNvPr id="5" name="Footer Placeholder 4">
            <a:extLst>
              <a:ext uri="{FF2B5EF4-FFF2-40B4-BE49-F238E27FC236}">
                <a16:creationId xmlns:a16="http://schemas.microsoft.com/office/drawing/2014/main" id="{D9873194-85D5-9AC4-A7C1-CBC3046E21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969FF7-6DC8-AD8B-C3D0-3CF7B0C3AB7B}"/>
              </a:ext>
            </a:extLst>
          </p:cNvPr>
          <p:cNvSpPr>
            <a:spLocks noGrp="1"/>
          </p:cNvSpPr>
          <p:nvPr>
            <p:ph type="sldNum" sz="quarter" idx="12"/>
          </p:nvPr>
        </p:nvSpPr>
        <p:spPr/>
        <p:txBody>
          <a:bodyPr/>
          <a:lstStyle/>
          <a:p>
            <a:fld id="{3306337A-04D1-4E07-AF98-6B62409D55CE}" type="slidenum">
              <a:rPr lang="en-US" smtClean="0"/>
              <a:t>‹#›</a:t>
            </a:fld>
            <a:endParaRPr lang="en-US"/>
          </a:p>
        </p:txBody>
      </p:sp>
    </p:spTree>
    <p:extLst>
      <p:ext uri="{BB962C8B-B14F-4D97-AF65-F5344CB8AC3E}">
        <p14:creationId xmlns:p14="http://schemas.microsoft.com/office/powerpoint/2010/main" val="995615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993295-9219-E03F-828C-65FE5726A8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0A5AC1-5112-2AE7-E2B3-5E3E5B9B8D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DA9677-8B19-BC7F-A5A7-FECEA7AD87B1}"/>
              </a:ext>
            </a:extLst>
          </p:cNvPr>
          <p:cNvSpPr>
            <a:spLocks noGrp="1"/>
          </p:cNvSpPr>
          <p:nvPr>
            <p:ph type="dt" sz="half" idx="10"/>
          </p:nvPr>
        </p:nvSpPr>
        <p:spPr/>
        <p:txBody>
          <a:bodyPr/>
          <a:lstStyle/>
          <a:p>
            <a:fld id="{B4286AA7-27A4-49F7-91B6-3F981955BB3B}" type="datetimeFigureOut">
              <a:rPr lang="en-US" smtClean="0"/>
              <a:t>9/21/2026</a:t>
            </a:fld>
            <a:endParaRPr lang="en-US"/>
          </a:p>
        </p:txBody>
      </p:sp>
      <p:sp>
        <p:nvSpPr>
          <p:cNvPr id="5" name="Footer Placeholder 4">
            <a:extLst>
              <a:ext uri="{FF2B5EF4-FFF2-40B4-BE49-F238E27FC236}">
                <a16:creationId xmlns:a16="http://schemas.microsoft.com/office/drawing/2014/main" id="{07B63E14-72D4-CB22-13FF-956AB9E94A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E43EB4-CB30-578B-3E73-6905A35CFBA8}"/>
              </a:ext>
            </a:extLst>
          </p:cNvPr>
          <p:cNvSpPr>
            <a:spLocks noGrp="1"/>
          </p:cNvSpPr>
          <p:nvPr>
            <p:ph type="sldNum" sz="quarter" idx="12"/>
          </p:nvPr>
        </p:nvSpPr>
        <p:spPr/>
        <p:txBody>
          <a:bodyPr/>
          <a:lstStyle/>
          <a:p>
            <a:fld id="{3306337A-04D1-4E07-AF98-6B62409D55CE}" type="slidenum">
              <a:rPr lang="en-US" smtClean="0"/>
              <a:t>‹#›</a:t>
            </a:fld>
            <a:endParaRPr lang="en-US"/>
          </a:p>
        </p:txBody>
      </p:sp>
    </p:spTree>
    <p:extLst>
      <p:ext uri="{BB962C8B-B14F-4D97-AF65-F5344CB8AC3E}">
        <p14:creationId xmlns:p14="http://schemas.microsoft.com/office/powerpoint/2010/main" val="3518935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84E6D1-6DB7-2D59-5C48-0CBC0D0CAE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10F960-A94E-FD16-7309-6371A8F24D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E61869-ACE7-FF88-F2B9-FF2010EBB9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4286AA7-27A4-49F7-91B6-3F981955BB3B}" type="datetimeFigureOut">
              <a:rPr lang="en-US" smtClean="0"/>
              <a:t>9/21/2026</a:t>
            </a:fld>
            <a:endParaRPr lang="en-US"/>
          </a:p>
        </p:txBody>
      </p:sp>
      <p:sp>
        <p:nvSpPr>
          <p:cNvPr id="5" name="Footer Placeholder 4">
            <a:extLst>
              <a:ext uri="{FF2B5EF4-FFF2-40B4-BE49-F238E27FC236}">
                <a16:creationId xmlns:a16="http://schemas.microsoft.com/office/drawing/2014/main" id="{1B1985A5-4E92-2363-F3F3-8349B2ED05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041E436-0EF2-2749-F9D8-2F15536771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6337A-04D1-4E07-AF98-6B62409D55CE}" type="slidenum">
              <a:rPr lang="en-US" smtClean="0"/>
              <a:t>‹#›</a:t>
            </a:fld>
            <a:endParaRPr lang="en-US"/>
          </a:p>
        </p:txBody>
      </p:sp>
    </p:spTree>
    <p:extLst>
      <p:ext uri="{BB962C8B-B14F-4D97-AF65-F5344CB8AC3E}">
        <p14:creationId xmlns:p14="http://schemas.microsoft.com/office/powerpoint/2010/main" val="1055491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https://ca-snowbridge-dev-624a.delightfultree-01bfebd8.eastus2.azurecontainerapps.io/"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rayxfelipe/Snowbridge"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hyperlink" Target="https://ca-snowbridge-dev-624a.delightfultree-01bfebd8.eastus2.azurecontainerapps.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A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86FF70-674A-8C2D-033B-2C27ECCEDCC4}"/>
              </a:ext>
            </a:extLst>
          </p:cNvPr>
          <p:cNvSpPr/>
          <p:nvPr/>
        </p:nvSpPr>
        <p:spPr>
          <a:xfrm>
            <a:off x="609600" y="546100"/>
            <a:ext cx="127000" cy="127000"/>
          </a:xfrm>
          <a:prstGeom prst="rect">
            <a:avLst/>
          </a:prstGeom>
          <a:solidFill>
            <a:srgbClr val="D142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A2FE1F7-8856-C3C8-D793-2441BAB15774}"/>
              </a:ext>
            </a:extLst>
          </p:cNvPr>
          <p:cNvSpPr/>
          <p:nvPr/>
        </p:nvSpPr>
        <p:spPr>
          <a:xfrm>
            <a:off x="762000" y="546100"/>
            <a:ext cx="127000" cy="127000"/>
          </a:xfrm>
          <a:prstGeom prst="rect">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90A2234-0B32-5E84-BEB0-B0BC8BCC19D7}"/>
              </a:ext>
            </a:extLst>
          </p:cNvPr>
          <p:cNvSpPr/>
          <p:nvPr/>
        </p:nvSpPr>
        <p:spPr>
          <a:xfrm>
            <a:off x="609600" y="698500"/>
            <a:ext cx="127000" cy="127000"/>
          </a:xfrm>
          <a:prstGeom prst="rect">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FF5EF67-13B1-A32D-F6C7-8C59642FC575}"/>
              </a:ext>
            </a:extLst>
          </p:cNvPr>
          <p:cNvSpPr/>
          <p:nvPr/>
        </p:nvSpPr>
        <p:spPr>
          <a:xfrm>
            <a:off x="762000" y="698500"/>
            <a:ext cx="127000" cy="127000"/>
          </a:xfrm>
          <a:prstGeom prst="rect">
            <a:avLst/>
          </a:prstGeom>
          <a:solidFill>
            <a:srgbClr val="FFB7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28D5CC0-74A2-B763-F7D4-E819086ED765}"/>
              </a:ext>
            </a:extLst>
          </p:cNvPr>
          <p:cNvSpPr txBox="1"/>
          <p:nvPr/>
        </p:nvSpPr>
        <p:spPr>
          <a:xfrm>
            <a:off x="1041400" y="571500"/>
            <a:ext cx="3175000" cy="153888"/>
          </a:xfrm>
          <a:prstGeom prst="rect">
            <a:avLst/>
          </a:prstGeom>
          <a:noFill/>
        </p:spPr>
        <p:txBody>
          <a:bodyPr vert="horz" wrap="square" lIns="0" tIns="0" rIns="0" bIns="0" rtlCol="0" anchor="t">
            <a:spAutoFit/>
          </a:bodyPr>
          <a:lstStyle/>
          <a:p>
            <a:r>
              <a:rPr lang="en-US" sz="1000" b="1">
                <a:solidFill>
                  <a:srgbClr val="FFFFFF"/>
                </a:solidFill>
                <a:latin typeface="Segoe UI" panose="020B0502040204020203" pitchFamily="34" charset="0"/>
              </a:rPr>
              <a:t>MICROSOFT AZURE + SNOWFLAKE</a:t>
            </a:r>
          </a:p>
        </p:txBody>
      </p:sp>
      <p:sp>
        <p:nvSpPr>
          <p:cNvPr id="7" name="TextBox 6">
            <a:extLst>
              <a:ext uri="{FF2B5EF4-FFF2-40B4-BE49-F238E27FC236}">
                <a16:creationId xmlns:a16="http://schemas.microsoft.com/office/drawing/2014/main" id="{4E9E705E-3AF1-72CE-85C4-4FE5BCA2C1BC}"/>
              </a:ext>
            </a:extLst>
          </p:cNvPr>
          <p:cNvSpPr txBox="1"/>
          <p:nvPr/>
        </p:nvSpPr>
        <p:spPr>
          <a:xfrm>
            <a:off x="609600" y="1524000"/>
            <a:ext cx="5207000" cy="523220"/>
          </a:xfrm>
          <a:prstGeom prst="rect">
            <a:avLst/>
          </a:prstGeom>
          <a:noFill/>
        </p:spPr>
        <p:txBody>
          <a:bodyPr vert="horz" wrap="square" lIns="0" tIns="0" rIns="0" bIns="0" rtlCol="0" anchor="t">
            <a:spAutoFit/>
          </a:bodyPr>
          <a:lstStyle/>
          <a:p>
            <a:r>
              <a:rPr lang="en-US" sz="3400" b="1">
                <a:solidFill>
                  <a:srgbClr val="FFFFFF"/>
                </a:solidFill>
                <a:latin typeface="Segoe UI" panose="020B0502040204020203" pitchFamily="34" charset="0"/>
              </a:rPr>
              <a:t>Snowbridge</a:t>
            </a:r>
          </a:p>
        </p:txBody>
      </p:sp>
      <p:sp>
        <p:nvSpPr>
          <p:cNvPr id="8" name="TextBox 7">
            <a:extLst>
              <a:ext uri="{FF2B5EF4-FFF2-40B4-BE49-F238E27FC236}">
                <a16:creationId xmlns:a16="http://schemas.microsoft.com/office/drawing/2014/main" id="{8E716638-2BC4-CB6E-3D70-9A68BE7BCE8F}"/>
              </a:ext>
            </a:extLst>
          </p:cNvPr>
          <p:cNvSpPr txBox="1"/>
          <p:nvPr/>
        </p:nvSpPr>
        <p:spPr>
          <a:xfrm>
            <a:off x="609600" y="2311400"/>
            <a:ext cx="5143500" cy="738664"/>
          </a:xfrm>
          <a:prstGeom prst="rect">
            <a:avLst/>
          </a:prstGeom>
          <a:noFill/>
        </p:spPr>
        <p:txBody>
          <a:bodyPr vert="horz" wrap="square" lIns="0" tIns="0" rIns="0" bIns="0" rtlCol="0" anchor="t">
            <a:spAutoFit/>
          </a:bodyPr>
          <a:lstStyle/>
          <a:p>
            <a:r>
              <a:rPr lang="en-US" sz="2400">
                <a:solidFill>
                  <a:srgbClr val="D6E9F8"/>
                </a:solidFill>
                <a:latin typeface="Segoe UI" panose="020B0502040204020203" pitchFamily="34" charset="0"/>
              </a:rPr>
              <a:t>Governed AI access to Snowflake operations</a:t>
            </a:r>
          </a:p>
        </p:txBody>
      </p:sp>
      <p:sp>
        <p:nvSpPr>
          <p:cNvPr id="9" name="TextBox 8">
            <a:extLst>
              <a:ext uri="{FF2B5EF4-FFF2-40B4-BE49-F238E27FC236}">
                <a16:creationId xmlns:a16="http://schemas.microsoft.com/office/drawing/2014/main" id="{E9D5D885-C745-5069-1D29-439240E4C06E}"/>
              </a:ext>
            </a:extLst>
          </p:cNvPr>
          <p:cNvSpPr txBox="1"/>
          <p:nvPr/>
        </p:nvSpPr>
        <p:spPr>
          <a:xfrm>
            <a:off x="609600" y="3683000"/>
            <a:ext cx="4699000" cy="492443"/>
          </a:xfrm>
          <a:prstGeom prst="rect">
            <a:avLst/>
          </a:prstGeom>
          <a:noFill/>
        </p:spPr>
        <p:txBody>
          <a:bodyPr vert="horz" wrap="square" lIns="0" tIns="0" rIns="0" bIns="0" rtlCol="0" anchor="t">
            <a:spAutoFit/>
          </a:bodyPr>
          <a:lstStyle/>
          <a:p>
            <a:r>
              <a:rPr lang="en-US" sz="1600">
                <a:solidFill>
                  <a:srgbClr val="FFFFFF"/>
                </a:solidFill>
                <a:latin typeface="Segoe UI" panose="020B0502040204020203" pitchFamily="34" charset="0"/>
              </a:rPr>
              <a:t>Ask in business language. Review the plan. Approve before execution.</a:t>
            </a:r>
          </a:p>
        </p:txBody>
      </p:sp>
      <p:sp>
        <p:nvSpPr>
          <p:cNvPr id="10" name="Rectangle: Rounded Corners 9">
            <a:extLst>
              <a:ext uri="{FF2B5EF4-FFF2-40B4-BE49-F238E27FC236}">
                <a16:creationId xmlns:a16="http://schemas.microsoft.com/office/drawing/2014/main" id="{1FFB855F-BA67-7010-D257-A42820D57EA0}"/>
              </a:ext>
            </a:extLst>
          </p:cNvPr>
          <p:cNvSpPr/>
          <p:nvPr/>
        </p:nvSpPr>
        <p:spPr>
          <a:xfrm>
            <a:off x="609600" y="5041900"/>
            <a:ext cx="1905000" cy="330200"/>
          </a:xfrm>
          <a:prstGeom prst="roundRect">
            <a:avLst/>
          </a:prstGeom>
          <a:solidFill>
            <a:srgbClr val="0078D4"/>
          </a:solidFill>
          <a:ln w="12700">
            <a:solidFill>
              <a:srgbClr val="0078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E0F5AF1-1A34-FF86-4807-C84DC7B2EBE5}"/>
              </a:ext>
            </a:extLst>
          </p:cNvPr>
          <p:cNvSpPr txBox="1"/>
          <p:nvPr/>
        </p:nvSpPr>
        <p:spPr>
          <a:xfrm>
            <a:off x="609600" y="5105400"/>
            <a:ext cx="1905000" cy="153888"/>
          </a:xfrm>
          <a:prstGeom prst="rect">
            <a:avLst/>
          </a:prstGeom>
          <a:noFill/>
        </p:spPr>
        <p:txBody>
          <a:bodyPr vert="horz" wrap="square" lIns="0" tIns="0" rIns="0" bIns="0" rtlCol="0" anchor="t">
            <a:spAutoFit/>
          </a:bodyPr>
          <a:lstStyle/>
          <a:p>
            <a:pPr algn="ctr"/>
            <a:r>
              <a:rPr lang="en-US" sz="1000" b="1">
                <a:solidFill>
                  <a:srgbClr val="FFFFFF"/>
                </a:solidFill>
                <a:latin typeface="Segoe UI" panose="020B0502040204020203" pitchFamily="34" charset="0"/>
              </a:rPr>
              <a:t>BUSINESS OVERVIEW</a:t>
            </a:r>
          </a:p>
        </p:txBody>
      </p:sp>
      <p:sp>
        <p:nvSpPr>
          <p:cNvPr id="12" name="Rectangle: Rounded Corners 11">
            <a:extLst>
              <a:ext uri="{FF2B5EF4-FFF2-40B4-BE49-F238E27FC236}">
                <a16:creationId xmlns:a16="http://schemas.microsoft.com/office/drawing/2014/main" id="{5217CD40-9FCE-5800-6111-ADC36AF5831A}"/>
              </a:ext>
            </a:extLst>
          </p:cNvPr>
          <p:cNvSpPr/>
          <p:nvPr/>
        </p:nvSpPr>
        <p:spPr>
          <a:xfrm>
            <a:off x="6337300" y="901700"/>
            <a:ext cx="5295900" cy="4572000"/>
          </a:xfrm>
          <a:prstGeom prst="roundRect">
            <a:avLst/>
          </a:prstGeom>
          <a:solidFill>
            <a:srgbClr val="FFFFFF"/>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2E6BA7F9-690A-613F-FAFD-28F789F8C05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413500" y="977900"/>
            <a:ext cx="5143500" cy="4419600"/>
          </a:xfrm>
          <a:prstGeom prst="rect">
            <a:avLst/>
          </a:prstGeom>
        </p:spPr>
      </p:pic>
      <p:sp>
        <p:nvSpPr>
          <p:cNvPr id="15" name="TextBox 14">
            <a:extLst>
              <a:ext uri="{FF2B5EF4-FFF2-40B4-BE49-F238E27FC236}">
                <a16:creationId xmlns:a16="http://schemas.microsoft.com/office/drawing/2014/main" id="{4F74FBFC-2BE4-A638-C7F8-5D41E6BCE522}"/>
              </a:ext>
            </a:extLst>
          </p:cNvPr>
          <p:cNvSpPr txBox="1"/>
          <p:nvPr/>
        </p:nvSpPr>
        <p:spPr>
          <a:xfrm>
            <a:off x="8661400" y="5727700"/>
            <a:ext cx="2895600" cy="153888"/>
          </a:xfrm>
          <a:prstGeom prst="rect">
            <a:avLst/>
          </a:prstGeom>
          <a:noFill/>
        </p:spPr>
        <p:txBody>
          <a:bodyPr vert="horz" wrap="square" lIns="0" tIns="0" rIns="0" bIns="0" rtlCol="0" anchor="t">
            <a:spAutoFit/>
          </a:bodyPr>
          <a:lstStyle/>
          <a:p>
            <a:pPr algn="r"/>
            <a:r>
              <a:rPr lang="en-US" sz="1000">
                <a:solidFill>
                  <a:srgbClr val="D6E9F8"/>
                </a:solidFill>
                <a:latin typeface="Segoe UI" panose="020B0502040204020203" pitchFamily="34" charset="0"/>
              </a:rPr>
              <a:t>Live on Azure Container Apps</a:t>
            </a:r>
          </a:p>
        </p:txBody>
      </p:sp>
    </p:spTree>
    <p:extLst>
      <p:ext uri="{BB962C8B-B14F-4D97-AF65-F5344CB8AC3E}">
        <p14:creationId xmlns:p14="http://schemas.microsoft.com/office/powerpoint/2010/main" val="3410301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27EA38B-83BF-BD79-1800-F8B24EF2D778}"/>
              </a:ext>
            </a:extLst>
          </p:cNvPr>
          <p:cNvSpPr/>
          <p:nvPr/>
        </p:nvSpPr>
        <p:spPr>
          <a:xfrm>
            <a:off x="533400" y="342900"/>
            <a:ext cx="88900" cy="88900"/>
          </a:xfrm>
          <a:prstGeom prst="rect">
            <a:avLst/>
          </a:prstGeom>
          <a:solidFill>
            <a:srgbClr val="D142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5D57589-708F-EC13-B7C9-6A4B0721BC39}"/>
              </a:ext>
            </a:extLst>
          </p:cNvPr>
          <p:cNvSpPr/>
          <p:nvPr/>
        </p:nvSpPr>
        <p:spPr>
          <a:xfrm>
            <a:off x="647700" y="342900"/>
            <a:ext cx="88900" cy="88900"/>
          </a:xfrm>
          <a:prstGeom prst="rect">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818CBD8-53FE-2EAB-477D-A3B728C89BD6}"/>
              </a:ext>
            </a:extLst>
          </p:cNvPr>
          <p:cNvSpPr/>
          <p:nvPr/>
        </p:nvSpPr>
        <p:spPr>
          <a:xfrm>
            <a:off x="533400" y="457200"/>
            <a:ext cx="88900" cy="88900"/>
          </a:xfrm>
          <a:prstGeom prst="rect">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207B0F1-C1DB-8B83-85DA-E38C5F04393B}"/>
              </a:ext>
            </a:extLst>
          </p:cNvPr>
          <p:cNvSpPr/>
          <p:nvPr/>
        </p:nvSpPr>
        <p:spPr>
          <a:xfrm>
            <a:off x="647700" y="457200"/>
            <a:ext cx="88900" cy="88900"/>
          </a:xfrm>
          <a:prstGeom prst="rect">
            <a:avLst/>
          </a:prstGeom>
          <a:solidFill>
            <a:srgbClr val="FFB7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59EFE36-40FB-E0DE-5C41-67F0BA485367}"/>
              </a:ext>
            </a:extLst>
          </p:cNvPr>
          <p:cNvSpPr txBox="1"/>
          <p:nvPr/>
        </p:nvSpPr>
        <p:spPr>
          <a:xfrm>
            <a:off x="863600" y="342900"/>
            <a:ext cx="1498600" cy="153888"/>
          </a:xfrm>
          <a:prstGeom prst="rect">
            <a:avLst/>
          </a:prstGeom>
          <a:noFill/>
        </p:spPr>
        <p:txBody>
          <a:bodyPr vert="horz" wrap="square" lIns="0" tIns="0" rIns="0" bIns="0" rtlCol="0" anchor="t">
            <a:spAutoFit/>
          </a:bodyPr>
          <a:lstStyle/>
          <a:p>
            <a:r>
              <a:rPr lang="en-US" sz="1000" b="1">
                <a:solidFill>
                  <a:srgbClr val="666666"/>
                </a:solidFill>
                <a:latin typeface="Segoe UI" panose="020B0502040204020203" pitchFamily="34" charset="0"/>
              </a:rPr>
              <a:t>SNOWBRIDGE</a:t>
            </a:r>
          </a:p>
        </p:txBody>
      </p:sp>
      <p:sp>
        <p:nvSpPr>
          <p:cNvPr id="7" name="TextBox 6">
            <a:extLst>
              <a:ext uri="{FF2B5EF4-FFF2-40B4-BE49-F238E27FC236}">
                <a16:creationId xmlns:a16="http://schemas.microsoft.com/office/drawing/2014/main" id="{D48E82A5-C9BD-D8B5-9FD9-610D449639E5}"/>
              </a:ext>
            </a:extLst>
          </p:cNvPr>
          <p:cNvSpPr txBox="1"/>
          <p:nvPr/>
        </p:nvSpPr>
        <p:spPr>
          <a:xfrm>
            <a:off x="9525000" y="355600"/>
            <a:ext cx="2095500" cy="138499"/>
          </a:xfrm>
          <a:prstGeom prst="rect">
            <a:avLst/>
          </a:prstGeom>
          <a:noFill/>
        </p:spPr>
        <p:txBody>
          <a:bodyPr vert="horz" wrap="square" lIns="0" tIns="0" rIns="0" bIns="0" rtlCol="0" anchor="t">
            <a:spAutoFit/>
          </a:bodyPr>
          <a:lstStyle/>
          <a:p>
            <a:pPr algn="r"/>
            <a:r>
              <a:rPr lang="en-US" sz="900" b="1">
                <a:solidFill>
                  <a:srgbClr val="0078D4"/>
                </a:solidFill>
                <a:latin typeface="Segoe UI" panose="020B0502040204020203" pitchFamily="34" charset="0"/>
              </a:rPr>
              <a:t>WHY SNOWBRIDGE</a:t>
            </a:r>
          </a:p>
        </p:txBody>
      </p:sp>
      <p:sp>
        <p:nvSpPr>
          <p:cNvPr id="8" name="TextBox 7">
            <a:extLst>
              <a:ext uri="{FF2B5EF4-FFF2-40B4-BE49-F238E27FC236}">
                <a16:creationId xmlns:a16="http://schemas.microsoft.com/office/drawing/2014/main" id="{3DA2A4F1-82E6-F570-2763-8BE6CB3B7F9E}"/>
              </a:ext>
            </a:extLst>
          </p:cNvPr>
          <p:cNvSpPr txBox="1"/>
          <p:nvPr/>
        </p:nvSpPr>
        <p:spPr>
          <a:xfrm>
            <a:off x="533400" y="825500"/>
            <a:ext cx="10922000" cy="430887"/>
          </a:xfrm>
          <a:prstGeom prst="rect">
            <a:avLst/>
          </a:prstGeom>
          <a:noFill/>
        </p:spPr>
        <p:txBody>
          <a:bodyPr vert="horz" wrap="square" lIns="0" tIns="0" rIns="0" bIns="0" rtlCol="0" anchor="t">
            <a:spAutoFit/>
          </a:bodyPr>
          <a:lstStyle/>
          <a:p>
            <a:r>
              <a:rPr lang="en-US" sz="2800" b="1">
                <a:solidFill>
                  <a:srgbClr val="101A2B"/>
                </a:solidFill>
                <a:latin typeface="Segoe UI" panose="020B0502040204020203" pitchFamily="34" charset="0"/>
              </a:rPr>
              <a:t>The integration gap is a governance gap</a:t>
            </a:r>
          </a:p>
        </p:txBody>
      </p:sp>
      <p:sp>
        <p:nvSpPr>
          <p:cNvPr id="9" name="TextBox 8">
            <a:extLst>
              <a:ext uri="{FF2B5EF4-FFF2-40B4-BE49-F238E27FC236}">
                <a16:creationId xmlns:a16="http://schemas.microsoft.com/office/drawing/2014/main" id="{95504304-BC97-D588-5363-B6B7B876F58A}"/>
              </a:ext>
            </a:extLst>
          </p:cNvPr>
          <p:cNvSpPr txBox="1"/>
          <p:nvPr/>
        </p:nvSpPr>
        <p:spPr>
          <a:xfrm>
            <a:off x="11430000" y="6248400"/>
            <a:ext cx="330200" cy="138499"/>
          </a:xfrm>
          <a:prstGeom prst="rect">
            <a:avLst/>
          </a:prstGeom>
          <a:noFill/>
        </p:spPr>
        <p:txBody>
          <a:bodyPr vert="horz" wrap="square" lIns="0" tIns="0" rIns="0" bIns="0" rtlCol="0" anchor="t">
            <a:spAutoFit/>
          </a:bodyPr>
          <a:lstStyle/>
          <a:p>
            <a:pPr algn="r"/>
            <a:r>
              <a:rPr lang="en-US" sz="900">
                <a:solidFill>
                  <a:srgbClr val="666666"/>
                </a:solidFill>
                <a:latin typeface="Segoe UI" panose="020B0502040204020203" pitchFamily="34" charset="0"/>
              </a:rPr>
              <a:t>02</a:t>
            </a:r>
          </a:p>
        </p:txBody>
      </p:sp>
      <p:sp>
        <p:nvSpPr>
          <p:cNvPr id="10" name="TextBox 9">
            <a:extLst>
              <a:ext uri="{FF2B5EF4-FFF2-40B4-BE49-F238E27FC236}">
                <a16:creationId xmlns:a16="http://schemas.microsoft.com/office/drawing/2014/main" id="{8F8182E4-3605-543A-EC08-7CDD4E89AE63}"/>
              </a:ext>
            </a:extLst>
          </p:cNvPr>
          <p:cNvSpPr txBox="1"/>
          <p:nvPr/>
        </p:nvSpPr>
        <p:spPr>
          <a:xfrm>
            <a:off x="762000" y="1676400"/>
            <a:ext cx="2667000" cy="215444"/>
          </a:xfrm>
          <a:prstGeom prst="rect">
            <a:avLst/>
          </a:prstGeom>
          <a:noFill/>
        </p:spPr>
        <p:txBody>
          <a:bodyPr vert="horz" wrap="square" lIns="0" tIns="0" rIns="0" bIns="0" rtlCol="0" anchor="t">
            <a:spAutoFit/>
          </a:bodyPr>
          <a:lstStyle/>
          <a:p>
            <a:r>
              <a:rPr lang="en-US" sz="1400" b="1">
                <a:solidFill>
                  <a:srgbClr val="666666"/>
                </a:solidFill>
                <a:latin typeface="Segoe UI" panose="020B0502040204020203" pitchFamily="34" charset="0"/>
              </a:rPr>
              <a:t>Business demand</a:t>
            </a:r>
          </a:p>
        </p:txBody>
      </p:sp>
      <p:sp>
        <p:nvSpPr>
          <p:cNvPr id="11" name="TextBox 10">
            <a:extLst>
              <a:ext uri="{FF2B5EF4-FFF2-40B4-BE49-F238E27FC236}">
                <a16:creationId xmlns:a16="http://schemas.microsoft.com/office/drawing/2014/main" id="{8A258E04-D593-E140-7F46-BA8C79BDFBE6}"/>
              </a:ext>
            </a:extLst>
          </p:cNvPr>
          <p:cNvSpPr txBox="1"/>
          <p:nvPr/>
        </p:nvSpPr>
        <p:spPr>
          <a:xfrm>
            <a:off x="762000" y="2057400"/>
            <a:ext cx="2921000" cy="738664"/>
          </a:xfrm>
          <a:prstGeom prst="rect">
            <a:avLst/>
          </a:prstGeom>
          <a:noFill/>
        </p:spPr>
        <p:txBody>
          <a:bodyPr vert="horz" wrap="square" lIns="0" tIns="0" rIns="0" bIns="0" rtlCol="0" anchor="t">
            <a:spAutoFit/>
          </a:bodyPr>
          <a:lstStyle/>
          <a:p>
            <a:r>
              <a:rPr lang="en-US" sz="2400" b="1">
                <a:solidFill>
                  <a:srgbClr val="101A2B"/>
                </a:solidFill>
                <a:latin typeface="Segoe UI" panose="020B0502040204020203" pitchFamily="34" charset="0"/>
              </a:rPr>
              <a:t>Fast answers from operational data</a:t>
            </a:r>
          </a:p>
        </p:txBody>
      </p:sp>
      <p:sp>
        <p:nvSpPr>
          <p:cNvPr id="12" name="TextBox 11">
            <a:extLst>
              <a:ext uri="{FF2B5EF4-FFF2-40B4-BE49-F238E27FC236}">
                <a16:creationId xmlns:a16="http://schemas.microsoft.com/office/drawing/2014/main" id="{5EC187CA-0AFC-5D64-C43D-D2000EFDB015}"/>
              </a:ext>
            </a:extLst>
          </p:cNvPr>
          <p:cNvSpPr txBox="1"/>
          <p:nvPr/>
        </p:nvSpPr>
        <p:spPr>
          <a:xfrm>
            <a:off x="762000" y="3098800"/>
            <a:ext cx="2984500" cy="692497"/>
          </a:xfrm>
          <a:prstGeom prst="rect">
            <a:avLst/>
          </a:prstGeom>
          <a:noFill/>
        </p:spPr>
        <p:txBody>
          <a:bodyPr vert="horz" wrap="square" lIns="0" tIns="0" rIns="0" bIns="0" rtlCol="0" anchor="t">
            <a:spAutoFit/>
          </a:bodyPr>
          <a:lstStyle/>
          <a:p>
            <a:r>
              <a:rPr lang="en-US" sz="1500">
                <a:solidFill>
                  <a:srgbClr val="262626"/>
                </a:solidFill>
                <a:latin typeface="Segoe UI" panose="020B0502040204020203" pitchFamily="34" charset="0"/>
              </a:rPr>
              <a:t>Users want simple questions answered without learning SQL, credentials, or connector details.</a:t>
            </a:r>
          </a:p>
        </p:txBody>
      </p:sp>
      <p:sp>
        <p:nvSpPr>
          <p:cNvPr id="13" name="Arrow: Chevron 12">
            <a:extLst>
              <a:ext uri="{FF2B5EF4-FFF2-40B4-BE49-F238E27FC236}">
                <a16:creationId xmlns:a16="http://schemas.microsoft.com/office/drawing/2014/main" id="{507B6424-D5F4-F78E-9B94-138ED0E5E2B0}"/>
              </a:ext>
            </a:extLst>
          </p:cNvPr>
          <p:cNvSpPr/>
          <p:nvPr/>
        </p:nvSpPr>
        <p:spPr>
          <a:xfrm>
            <a:off x="3975100" y="3111500"/>
            <a:ext cx="482600" cy="482600"/>
          </a:xfrm>
          <a:prstGeom prst="chevron">
            <a:avLst/>
          </a:prstGeom>
          <a:solidFill>
            <a:srgbClr val="6666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ectangle: Rounded Corners 13">
            <a:extLst>
              <a:ext uri="{FF2B5EF4-FFF2-40B4-BE49-F238E27FC236}">
                <a16:creationId xmlns:a16="http://schemas.microsoft.com/office/drawing/2014/main" id="{3050A6FD-167D-8E8A-8C97-0F5B1B7EC1DA}"/>
              </a:ext>
            </a:extLst>
          </p:cNvPr>
          <p:cNvSpPr/>
          <p:nvPr/>
        </p:nvSpPr>
        <p:spPr>
          <a:xfrm>
            <a:off x="4775200" y="1676400"/>
            <a:ext cx="2794000" cy="3200400"/>
          </a:xfrm>
          <a:prstGeom prst="roundRect">
            <a:avLst/>
          </a:prstGeom>
          <a:solidFill>
            <a:srgbClr val="101A2B"/>
          </a:solidFill>
          <a:ln w="12700">
            <a:solidFill>
              <a:srgbClr val="101A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17D9E3D-3917-347B-826E-1DCEF19C5FEB}"/>
              </a:ext>
            </a:extLst>
          </p:cNvPr>
          <p:cNvSpPr txBox="1"/>
          <p:nvPr/>
        </p:nvSpPr>
        <p:spPr>
          <a:xfrm>
            <a:off x="5054600" y="1968500"/>
            <a:ext cx="2235200" cy="184666"/>
          </a:xfrm>
          <a:prstGeom prst="rect">
            <a:avLst/>
          </a:prstGeom>
          <a:noFill/>
        </p:spPr>
        <p:txBody>
          <a:bodyPr vert="horz" wrap="square" lIns="0" tIns="0" rIns="0" bIns="0" rtlCol="0" anchor="t">
            <a:spAutoFit/>
          </a:bodyPr>
          <a:lstStyle/>
          <a:p>
            <a:pPr algn="ctr"/>
            <a:r>
              <a:rPr lang="en-US" sz="1200" b="1">
                <a:solidFill>
                  <a:srgbClr val="0078D4"/>
                </a:solidFill>
                <a:latin typeface="Segoe UI" panose="020B0502040204020203" pitchFamily="34" charset="0"/>
              </a:rPr>
              <a:t>SNOWBRIDGE</a:t>
            </a:r>
          </a:p>
        </p:txBody>
      </p:sp>
      <p:sp>
        <p:nvSpPr>
          <p:cNvPr id="16" name="TextBox 15">
            <a:extLst>
              <a:ext uri="{FF2B5EF4-FFF2-40B4-BE49-F238E27FC236}">
                <a16:creationId xmlns:a16="http://schemas.microsoft.com/office/drawing/2014/main" id="{9FFB7178-D7AF-1677-CBD0-B579112116E2}"/>
              </a:ext>
            </a:extLst>
          </p:cNvPr>
          <p:cNvSpPr txBox="1"/>
          <p:nvPr/>
        </p:nvSpPr>
        <p:spPr>
          <a:xfrm>
            <a:off x="5054600" y="2489200"/>
            <a:ext cx="2235200" cy="738664"/>
          </a:xfrm>
          <a:prstGeom prst="rect">
            <a:avLst/>
          </a:prstGeom>
          <a:noFill/>
        </p:spPr>
        <p:txBody>
          <a:bodyPr vert="horz" wrap="square" lIns="0" tIns="0" rIns="0" bIns="0" rtlCol="0" anchor="t">
            <a:spAutoFit/>
          </a:bodyPr>
          <a:lstStyle/>
          <a:p>
            <a:pPr algn="ctr"/>
            <a:r>
              <a:rPr lang="en-US" sz="2400" b="1">
                <a:solidFill>
                  <a:srgbClr val="FFFFFF"/>
                </a:solidFill>
                <a:latin typeface="Segoe UI" panose="020B0502040204020203" pitchFamily="34" charset="0"/>
              </a:rPr>
              <a:t>One governed interface</a:t>
            </a:r>
          </a:p>
        </p:txBody>
      </p:sp>
      <p:sp>
        <p:nvSpPr>
          <p:cNvPr id="17" name="TextBox 16">
            <a:extLst>
              <a:ext uri="{FF2B5EF4-FFF2-40B4-BE49-F238E27FC236}">
                <a16:creationId xmlns:a16="http://schemas.microsoft.com/office/drawing/2014/main" id="{2D021C58-E53F-7A9C-95E2-B8C238ADEFD7}"/>
              </a:ext>
            </a:extLst>
          </p:cNvPr>
          <p:cNvSpPr txBox="1"/>
          <p:nvPr/>
        </p:nvSpPr>
        <p:spPr>
          <a:xfrm>
            <a:off x="5143500" y="3492500"/>
            <a:ext cx="2057400" cy="646331"/>
          </a:xfrm>
          <a:prstGeom prst="rect">
            <a:avLst/>
          </a:prstGeom>
          <a:noFill/>
        </p:spPr>
        <p:txBody>
          <a:bodyPr vert="horz" wrap="square" lIns="0" tIns="0" rIns="0" bIns="0" rtlCol="0" anchor="t">
            <a:spAutoFit/>
          </a:bodyPr>
          <a:lstStyle/>
          <a:p>
            <a:pPr algn="ctr"/>
            <a:r>
              <a:rPr lang="en-US" sz="1400">
                <a:solidFill>
                  <a:srgbClr val="F8E9D6"/>
                </a:solidFill>
                <a:latin typeface="Segoe UI" panose="020B0502040204020203" pitchFamily="34" charset="0"/>
              </a:rPr>
              <a:t>Intent translated into approved operations and validated parameters.</a:t>
            </a:r>
          </a:p>
        </p:txBody>
      </p:sp>
      <p:sp>
        <p:nvSpPr>
          <p:cNvPr id="18" name="Arrow: Chevron 17">
            <a:extLst>
              <a:ext uri="{FF2B5EF4-FFF2-40B4-BE49-F238E27FC236}">
                <a16:creationId xmlns:a16="http://schemas.microsoft.com/office/drawing/2014/main" id="{1A8DF7FD-2BE5-05BB-BFB9-13ECD00F24AE}"/>
              </a:ext>
            </a:extLst>
          </p:cNvPr>
          <p:cNvSpPr/>
          <p:nvPr/>
        </p:nvSpPr>
        <p:spPr>
          <a:xfrm>
            <a:off x="7874000" y="3111500"/>
            <a:ext cx="482600" cy="482600"/>
          </a:xfrm>
          <a:prstGeom prst="chevron">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8159B6B5-1F22-A480-E914-FD1859B00811}"/>
              </a:ext>
            </a:extLst>
          </p:cNvPr>
          <p:cNvSpPr txBox="1"/>
          <p:nvPr/>
        </p:nvSpPr>
        <p:spPr>
          <a:xfrm>
            <a:off x="8763000" y="1676400"/>
            <a:ext cx="2667000" cy="215444"/>
          </a:xfrm>
          <a:prstGeom prst="rect">
            <a:avLst/>
          </a:prstGeom>
          <a:noFill/>
        </p:spPr>
        <p:txBody>
          <a:bodyPr vert="horz" wrap="square" lIns="0" tIns="0" rIns="0" bIns="0" rtlCol="0" anchor="t">
            <a:spAutoFit/>
          </a:bodyPr>
          <a:lstStyle/>
          <a:p>
            <a:r>
              <a:rPr lang="en-US" sz="1400" b="1">
                <a:solidFill>
                  <a:srgbClr val="666666"/>
                </a:solidFill>
                <a:latin typeface="Segoe UI" panose="020B0502040204020203" pitchFamily="34" charset="0"/>
              </a:rPr>
              <a:t>Enterprise control</a:t>
            </a:r>
          </a:p>
        </p:txBody>
      </p:sp>
      <p:sp>
        <p:nvSpPr>
          <p:cNvPr id="20" name="TextBox 19">
            <a:extLst>
              <a:ext uri="{FF2B5EF4-FFF2-40B4-BE49-F238E27FC236}">
                <a16:creationId xmlns:a16="http://schemas.microsoft.com/office/drawing/2014/main" id="{D9911909-0767-8444-00EF-1DE06455ED5C}"/>
              </a:ext>
            </a:extLst>
          </p:cNvPr>
          <p:cNvSpPr txBox="1"/>
          <p:nvPr/>
        </p:nvSpPr>
        <p:spPr>
          <a:xfrm>
            <a:off x="8763000" y="2057400"/>
            <a:ext cx="2794000" cy="1107996"/>
          </a:xfrm>
          <a:prstGeom prst="rect">
            <a:avLst/>
          </a:prstGeom>
          <a:noFill/>
        </p:spPr>
        <p:txBody>
          <a:bodyPr vert="horz" wrap="square" lIns="0" tIns="0" rIns="0" bIns="0" rtlCol="0" anchor="t">
            <a:spAutoFit/>
          </a:bodyPr>
          <a:lstStyle/>
          <a:p>
            <a:r>
              <a:rPr lang="en-US" sz="2400" b="1">
                <a:solidFill>
                  <a:srgbClr val="101A2B"/>
                </a:solidFill>
                <a:latin typeface="Segoe UI" panose="020B0502040204020203" pitchFamily="34" charset="0"/>
              </a:rPr>
              <a:t>Predictable, reviewable execution</a:t>
            </a:r>
          </a:p>
        </p:txBody>
      </p:sp>
      <p:sp>
        <p:nvSpPr>
          <p:cNvPr id="21" name="TextBox 20">
            <a:extLst>
              <a:ext uri="{FF2B5EF4-FFF2-40B4-BE49-F238E27FC236}">
                <a16:creationId xmlns:a16="http://schemas.microsoft.com/office/drawing/2014/main" id="{EC70CD50-DBFB-4D6E-2600-50BCCB044BD0}"/>
              </a:ext>
            </a:extLst>
          </p:cNvPr>
          <p:cNvSpPr txBox="1"/>
          <p:nvPr/>
        </p:nvSpPr>
        <p:spPr>
          <a:xfrm>
            <a:off x="8763000" y="3098800"/>
            <a:ext cx="2794000" cy="923330"/>
          </a:xfrm>
          <a:prstGeom prst="rect">
            <a:avLst/>
          </a:prstGeom>
          <a:noFill/>
        </p:spPr>
        <p:txBody>
          <a:bodyPr vert="horz" wrap="square" lIns="0" tIns="0" rIns="0" bIns="0" rtlCol="0" anchor="t">
            <a:spAutoFit/>
          </a:bodyPr>
          <a:lstStyle/>
          <a:p>
            <a:r>
              <a:rPr lang="en-US" sz="1500">
                <a:solidFill>
                  <a:srgbClr val="262626"/>
                </a:solidFill>
                <a:latin typeface="Segoe UI" panose="020B0502040204020203" pitchFamily="34" charset="0"/>
              </a:rPr>
              <a:t>Allowlisted operations, explicit approval, parameter validation, managed identity, and stable API contracts.</a:t>
            </a:r>
          </a:p>
        </p:txBody>
      </p:sp>
      <p:sp>
        <p:nvSpPr>
          <p:cNvPr id="22" name="Rectangle: Rounded Corners 21">
            <a:extLst>
              <a:ext uri="{FF2B5EF4-FFF2-40B4-BE49-F238E27FC236}">
                <a16:creationId xmlns:a16="http://schemas.microsoft.com/office/drawing/2014/main" id="{EE189563-0749-7EA2-127D-61871300F183}"/>
              </a:ext>
            </a:extLst>
          </p:cNvPr>
          <p:cNvSpPr/>
          <p:nvPr/>
        </p:nvSpPr>
        <p:spPr>
          <a:xfrm>
            <a:off x="4775200" y="5321300"/>
            <a:ext cx="2794000" cy="330200"/>
          </a:xfrm>
          <a:prstGeom prst="roundRect">
            <a:avLst/>
          </a:prstGeom>
          <a:solidFill>
            <a:srgbClr val="DFEEFC"/>
          </a:solidFill>
          <a:ln w="12700">
            <a:solidFill>
              <a:srgbClr val="DFEE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48CCD7C-C56A-3BA5-7297-516EB57F56C9}"/>
              </a:ext>
            </a:extLst>
          </p:cNvPr>
          <p:cNvSpPr txBox="1"/>
          <p:nvPr/>
        </p:nvSpPr>
        <p:spPr>
          <a:xfrm>
            <a:off x="4775200" y="5384800"/>
            <a:ext cx="2794000" cy="153888"/>
          </a:xfrm>
          <a:prstGeom prst="rect">
            <a:avLst/>
          </a:prstGeom>
          <a:noFill/>
        </p:spPr>
        <p:txBody>
          <a:bodyPr vert="horz" wrap="square" lIns="0" tIns="0" rIns="0" bIns="0" rtlCol="0" anchor="t">
            <a:spAutoFit/>
          </a:bodyPr>
          <a:lstStyle/>
          <a:p>
            <a:pPr algn="ctr"/>
            <a:r>
              <a:rPr lang="en-US" sz="1000" b="1">
                <a:solidFill>
                  <a:srgbClr val="005B9A"/>
                </a:solidFill>
                <a:latin typeface="Segoe UI" panose="020B0502040204020203" pitchFamily="34" charset="0"/>
              </a:rPr>
              <a:t>NO MODEL-GENERATED SQL</a:t>
            </a:r>
          </a:p>
        </p:txBody>
      </p:sp>
    </p:spTree>
    <p:extLst>
      <p:ext uri="{BB962C8B-B14F-4D97-AF65-F5344CB8AC3E}">
        <p14:creationId xmlns:p14="http://schemas.microsoft.com/office/powerpoint/2010/main" val="3679699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90E690-06E5-19E2-8501-6A86BB563C70}"/>
              </a:ext>
            </a:extLst>
          </p:cNvPr>
          <p:cNvSpPr/>
          <p:nvPr/>
        </p:nvSpPr>
        <p:spPr>
          <a:xfrm>
            <a:off x="533400" y="342900"/>
            <a:ext cx="88900" cy="88900"/>
          </a:xfrm>
          <a:prstGeom prst="rect">
            <a:avLst/>
          </a:prstGeom>
          <a:solidFill>
            <a:srgbClr val="D142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D22259E-9043-A8B7-BD87-454457660261}"/>
              </a:ext>
            </a:extLst>
          </p:cNvPr>
          <p:cNvSpPr/>
          <p:nvPr/>
        </p:nvSpPr>
        <p:spPr>
          <a:xfrm>
            <a:off x="647700" y="342900"/>
            <a:ext cx="88900" cy="88900"/>
          </a:xfrm>
          <a:prstGeom prst="rect">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A337BA4-5BA7-731B-EB70-B88ED30D7DF4}"/>
              </a:ext>
            </a:extLst>
          </p:cNvPr>
          <p:cNvSpPr/>
          <p:nvPr/>
        </p:nvSpPr>
        <p:spPr>
          <a:xfrm>
            <a:off x="533400" y="457200"/>
            <a:ext cx="88900" cy="88900"/>
          </a:xfrm>
          <a:prstGeom prst="rect">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F53FACA-0F7D-BB1A-FBA3-3EA9311D941C}"/>
              </a:ext>
            </a:extLst>
          </p:cNvPr>
          <p:cNvSpPr/>
          <p:nvPr/>
        </p:nvSpPr>
        <p:spPr>
          <a:xfrm>
            <a:off x="647700" y="457200"/>
            <a:ext cx="88900" cy="88900"/>
          </a:xfrm>
          <a:prstGeom prst="rect">
            <a:avLst/>
          </a:prstGeom>
          <a:solidFill>
            <a:srgbClr val="FFB7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2B417C9-93B9-1216-9629-D6A3AF42F81D}"/>
              </a:ext>
            </a:extLst>
          </p:cNvPr>
          <p:cNvSpPr txBox="1"/>
          <p:nvPr/>
        </p:nvSpPr>
        <p:spPr>
          <a:xfrm>
            <a:off x="863600" y="342900"/>
            <a:ext cx="1498600" cy="153888"/>
          </a:xfrm>
          <a:prstGeom prst="rect">
            <a:avLst/>
          </a:prstGeom>
          <a:noFill/>
        </p:spPr>
        <p:txBody>
          <a:bodyPr vert="horz" wrap="square" lIns="0" tIns="0" rIns="0" bIns="0" rtlCol="0" anchor="t">
            <a:spAutoFit/>
          </a:bodyPr>
          <a:lstStyle/>
          <a:p>
            <a:r>
              <a:rPr lang="en-US" sz="1000" b="1">
                <a:solidFill>
                  <a:srgbClr val="666666"/>
                </a:solidFill>
                <a:latin typeface="Segoe UI" panose="020B0502040204020203" pitchFamily="34" charset="0"/>
              </a:rPr>
              <a:t>SNOWBRIDGE</a:t>
            </a:r>
          </a:p>
        </p:txBody>
      </p:sp>
      <p:sp>
        <p:nvSpPr>
          <p:cNvPr id="7" name="TextBox 6">
            <a:extLst>
              <a:ext uri="{FF2B5EF4-FFF2-40B4-BE49-F238E27FC236}">
                <a16:creationId xmlns:a16="http://schemas.microsoft.com/office/drawing/2014/main" id="{D292D915-FFD3-D7C4-6F7D-5E1E32B6F326}"/>
              </a:ext>
            </a:extLst>
          </p:cNvPr>
          <p:cNvSpPr txBox="1"/>
          <p:nvPr/>
        </p:nvSpPr>
        <p:spPr>
          <a:xfrm>
            <a:off x="9525000" y="355600"/>
            <a:ext cx="2095500" cy="138499"/>
          </a:xfrm>
          <a:prstGeom prst="rect">
            <a:avLst/>
          </a:prstGeom>
          <a:noFill/>
        </p:spPr>
        <p:txBody>
          <a:bodyPr vert="horz" wrap="square" lIns="0" tIns="0" rIns="0" bIns="0" rtlCol="0" anchor="t">
            <a:spAutoFit/>
          </a:bodyPr>
          <a:lstStyle/>
          <a:p>
            <a:pPr algn="r"/>
            <a:r>
              <a:rPr lang="en-US" sz="900" b="1">
                <a:solidFill>
                  <a:srgbClr val="0078D4"/>
                </a:solidFill>
                <a:latin typeface="Segoe UI" panose="020B0502040204020203" pitchFamily="34" charset="0"/>
              </a:rPr>
              <a:t>VALUE</a:t>
            </a:r>
          </a:p>
        </p:txBody>
      </p:sp>
      <p:sp>
        <p:nvSpPr>
          <p:cNvPr id="8" name="TextBox 7">
            <a:extLst>
              <a:ext uri="{FF2B5EF4-FFF2-40B4-BE49-F238E27FC236}">
                <a16:creationId xmlns:a16="http://schemas.microsoft.com/office/drawing/2014/main" id="{E57DB42F-8B70-7611-8FEF-6C54D363090B}"/>
              </a:ext>
            </a:extLst>
          </p:cNvPr>
          <p:cNvSpPr txBox="1"/>
          <p:nvPr/>
        </p:nvSpPr>
        <p:spPr>
          <a:xfrm>
            <a:off x="533400" y="825500"/>
            <a:ext cx="10922000" cy="430887"/>
          </a:xfrm>
          <a:prstGeom prst="rect">
            <a:avLst/>
          </a:prstGeom>
          <a:noFill/>
        </p:spPr>
        <p:txBody>
          <a:bodyPr vert="horz" wrap="square" lIns="0" tIns="0" rIns="0" bIns="0" rtlCol="0" anchor="t">
            <a:spAutoFit/>
          </a:bodyPr>
          <a:lstStyle/>
          <a:p>
            <a:r>
              <a:rPr lang="en-US" sz="2800" b="1">
                <a:solidFill>
                  <a:srgbClr val="101A2B"/>
                </a:solidFill>
                <a:latin typeface="Segoe UI" panose="020B0502040204020203" pitchFamily="34" charset="0"/>
              </a:rPr>
              <a:t>Business value, built into the interaction</a:t>
            </a:r>
          </a:p>
        </p:txBody>
      </p:sp>
      <p:sp>
        <p:nvSpPr>
          <p:cNvPr id="9" name="TextBox 8">
            <a:extLst>
              <a:ext uri="{FF2B5EF4-FFF2-40B4-BE49-F238E27FC236}">
                <a16:creationId xmlns:a16="http://schemas.microsoft.com/office/drawing/2014/main" id="{63F69414-671C-56D5-F06C-626220F245F2}"/>
              </a:ext>
            </a:extLst>
          </p:cNvPr>
          <p:cNvSpPr txBox="1"/>
          <p:nvPr/>
        </p:nvSpPr>
        <p:spPr>
          <a:xfrm>
            <a:off x="11430000" y="6248400"/>
            <a:ext cx="330200" cy="138499"/>
          </a:xfrm>
          <a:prstGeom prst="rect">
            <a:avLst/>
          </a:prstGeom>
          <a:noFill/>
        </p:spPr>
        <p:txBody>
          <a:bodyPr vert="horz" wrap="square" lIns="0" tIns="0" rIns="0" bIns="0" rtlCol="0" anchor="t">
            <a:spAutoFit/>
          </a:bodyPr>
          <a:lstStyle/>
          <a:p>
            <a:pPr algn="r"/>
            <a:r>
              <a:rPr lang="en-US" sz="900">
                <a:solidFill>
                  <a:srgbClr val="666666"/>
                </a:solidFill>
                <a:latin typeface="Segoe UI" panose="020B0502040204020203" pitchFamily="34" charset="0"/>
              </a:rPr>
              <a:t>03</a:t>
            </a:r>
          </a:p>
        </p:txBody>
      </p:sp>
      <p:sp>
        <p:nvSpPr>
          <p:cNvPr id="10" name="Rectangle: Rounded Corners 9">
            <a:extLst>
              <a:ext uri="{FF2B5EF4-FFF2-40B4-BE49-F238E27FC236}">
                <a16:creationId xmlns:a16="http://schemas.microsoft.com/office/drawing/2014/main" id="{1149376D-E6F6-001E-F176-1C31DEC0E9B1}"/>
              </a:ext>
            </a:extLst>
          </p:cNvPr>
          <p:cNvSpPr/>
          <p:nvPr/>
        </p:nvSpPr>
        <p:spPr>
          <a:xfrm>
            <a:off x="533400" y="1739900"/>
            <a:ext cx="2590800" cy="3657600"/>
          </a:xfrm>
          <a:prstGeom prst="roundRect">
            <a:avLst/>
          </a:prstGeom>
          <a:solidFill>
            <a:srgbClr val="F8F8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309334F-AB92-FC35-5DAF-620BC6FCA08B}"/>
              </a:ext>
            </a:extLst>
          </p:cNvPr>
          <p:cNvSpPr/>
          <p:nvPr/>
        </p:nvSpPr>
        <p:spPr>
          <a:xfrm>
            <a:off x="787400" y="2006600"/>
            <a:ext cx="660400" cy="660400"/>
          </a:xfrm>
          <a:prstGeom prst="ellipse">
            <a:avLst/>
          </a:prstGeom>
          <a:solidFill>
            <a:srgbClr val="0078D4"/>
          </a:solidFill>
          <a:ln>
            <a:solidFill>
              <a:srgbClr val="0078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324ACF4-B68A-D8A8-C30B-1AC2DB948FF3}"/>
              </a:ext>
            </a:extLst>
          </p:cNvPr>
          <p:cNvSpPr txBox="1"/>
          <p:nvPr/>
        </p:nvSpPr>
        <p:spPr>
          <a:xfrm>
            <a:off x="787400" y="2120900"/>
            <a:ext cx="660400" cy="369332"/>
          </a:xfrm>
          <a:prstGeom prst="rect">
            <a:avLst/>
          </a:prstGeom>
          <a:noFill/>
        </p:spPr>
        <p:txBody>
          <a:bodyPr vert="horz" wrap="square" lIns="0" tIns="0" rIns="0" bIns="0" rtlCol="0" anchor="t">
            <a:spAutoFit/>
          </a:bodyPr>
          <a:lstStyle/>
          <a:p>
            <a:pPr algn="ctr"/>
            <a:r>
              <a:rPr lang="en-US" sz="2400" b="1">
                <a:solidFill>
                  <a:srgbClr val="FFFFFF"/>
                </a:solidFill>
                <a:latin typeface="Segoe UI" panose="020B0502040204020203" pitchFamily="34" charset="0"/>
              </a:rPr>
              <a:t>1</a:t>
            </a:r>
          </a:p>
        </p:txBody>
      </p:sp>
      <p:sp>
        <p:nvSpPr>
          <p:cNvPr id="13" name="TextBox 12">
            <a:extLst>
              <a:ext uri="{FF2B5EF4-FFF2-40B4-BE49-F238E27FC236}">
                <a16:creationId xmlns:a16="http://schemas.microsoft.com/office/drawing/2014/main" id="{31060C2B-2340-B305-4FD9-EC73DEFBCA8C}"/>
              </a:ext>
            </a:extLst>
          </p:cNvPr>
          <p:cNvSpPr txBox="1"/>
          <p:nvPr/>
        </p:nvSpPr>
        <p:spPr>
          <a:xfrm>
            <a:off x="787400" y="2946400"/>
            <a:ext cx="2082800" cy="292388"/>
          </a:xfrm>
          <a:prstGeom prst="rect">
            <a:avLst/>
          </a:prstGeom>
          <a:noFill/>
        </p:spPr>
        <p:txBody>
          <a:bodyPr vert="horz" wrap="square" lIns="0" tIns="0" rIns="0" bIns="0" rtlCol="0" anchor="t">
            <a:spAutoFit/>
          </a:bodyPr>
          <a:lstStyle/>
          <a:p>
            <a:r>
              <a:rPr lang="en-US" sz="1900" b="1">
                <a:solidFill>
                  <a:srgbClr val="101A2B"/>
                </a:solidFill>
                <a:latin typeface="Segoe UI" panose="020B0502040204020203" pitchFamily="34" charset="0"/>
              </a:rPr>
              <a:t>stable interface</a:t>
            </a:r>
          </a:p>
        </p:txBody>
      </p:sp>
      <p:sp>
        <p:nvSpPr>
          <p:cNvPr id="14" name="TextBox 13">
            <a:extLst>
              <a:ext uri="{FF2B5EF4-FFF2-40B4-BE49-F238E27FC236}">
                <a16:creationId xmlns:a16="http://schemas.microsoft.com/office/drawing/2014/main" id="{5BF15963-7C5F-E3FA-9599-F709F68CB4E8}"/>
              </a:ext>
            </a:extLst>
          </p:cNvPr>
          <p:cNvSpPr txBox="1"/>
          <p:nvPr/>
        </p:nvSpPr>
        <p:spPr>
          <a:xfrm>
            <a:off x="787400" y="3810000"/>
            <a:ext cx="2082800" cy="646331"/>
          </a:xfrm>
          <a:prstGeom prst="rect">
            <a:avLst/>
          </a:prstGeom>
          <a:noFill/>
        </p:spPr>
        <p:txBody>
          <a:bodyPr vert="horz" wrap="square" lIns="0" tIns="0" rIns="0" bIns="0" rtlCol="0" anchor="t">
            <a:spAutoFit/>
          </a:bodyPr>
          <a:lstStyle/>
          <a:p>
            <a:r>
              <a:rPr lang="en-US" sz="1400">
                <a:solidFill>
                  <a:srgbClr val="262626"/>
                </a:solidFill>
                <a:latin typeface="Segoe UI" panose="020B0502040204020203" pitchFamily="34" charset="0"/>
              </a:rPr>
              <a:t>A common contract for business UI and technical integrations.</a:t>
            </a:r>
          </a:p>
        </p:txBody>
      </p:sp>
      <p:sp>
        <p:nvSpPr>
          <p:cNvPr id="15" name="Rectangle: Rounded Corners 14">
            <a:extLst>
              <a:ext uri="{FF2B5EF4-FFF2-40B4-BE49-F238E27FC236}">
                <a16:creationId xmlns:a16="http://schemas.microsoft.com/office/drawing/2014/main" id="{FE6C8B3F-86AD-F924-A22A-D1E582516816}"/>
              </a:ext>
            </a:extLst>
          </p:cNvPr>
          <p:cNvSpPr/>
          <p:nvPr/>
        </p:nvSpPr>
        <p:spPr>
          <a:xfrm>
            <a:off x="3390900" y="1739900"/>
            <a:ext cx="2590800" cy="3657600"/>
          </a:xfrm>
          <a:prstGeom prst="roundRect">
            <a:avLst/>
          </a:prstGeom>
          <a:solidFill>
            <a:srgbClr val="F8F8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DDCCD81-1931-E3E0-C73D-B21AC0672FAE}"/>
              </a:ext>
            </a:extLst>
          </p:cNvPr>
          <p:cNvSpPr/>
          <p:nvPr/>
        </p:nvSpPr>
        <p:spPr>
          <a:xfrm>
            <a:off x="3644900" y="2006600"/>
            <a:ext cx="660400" cy="660400"/>
          </a:xfrm>
          <a:prstGeom prst="ellipse">
            <a:avLst/>
          </a:prstGeom>
          <a:solidFill>
            <a:srgbClr val="107C10"/>
          </a:solidFill>
          <a:ln>
            <a:solidFill>
              <a:srgbClr val="107C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52640C4-89DA-C37E-90A8-2593233714FA}"/>
              </a:ext>
            </a:extLst>
          </p:cNvPr>
          <p:cNvSpPr txBox="1"/>
          <p:nvPr/>
        </p:nvSpPr>
        <p:spPr>
          <a:xfrm>
            <a:off x="3644900" y="2120900"/>
            <a:ext cx="660400" cy="369332"/>
          </a:xfrm>
          <a:prstGeom prst="rect">
            <a:avLst/>
          </a:prstGeom>
          <a:noFill/>
        </p:spPr>
        <p:txBody>
          <a:bodyPr vert="horz" wrap="square" lIns="0" tIns="0" rIns="0" bIns="0" rtlCol="0" anchor="t">
            <a:spAutoFit/>
          </a:bodyPr>
          <a:lstStyle/>
          <a:p>
            <a:pPr algn="ctr"/>
            <a:r>
              <a:rPr lang="en-US" sz="2400" b="1">
                <a:solidFill>
                  <a:srgbClr val="FFFFFF"/>
                </a:solidFill>
                <a:latin typeface="Segoe UI" panose="020B0502040204020203" pitchFamily="34" charset="0"/>
              </a:rPr>
              <a:t>0</a:t>
            </a:r>
          </a:p>
        </p:txBody>
      </p:sp>
      <p:sp>
        <p:nvSpPr>
          <p:cNvPr id="18" name="TextBox 17">
            <a:extLst>
              <a:ext uri="{FF2B5EF4-FFF2-40B4-BE49-F238E27FC236}">
                <a16:creationId xmlns:a16="http://schemas.microsoft.com/office/drawing/2014/main" id="{FA8FB13E-CAAC-63E1-67DE-D1E7A184AF91}"/>
              </a:ext>
            </a:extLst>
          </p:cNvPr>
          <p:cNvSpPr txBox="1"/>
          <p:nvPr/>
        </p:nvSpPr>
        <p:spPr>
          <a:xfrm>
            <a:off x="3644900" y="2946400"/>
            <a:ext cx="2082800" cy="292388"/>
          </a:xfrm>
          <a:prstGeom prst="rect">
            <a:avLst/>
          </a:prstGeom>
          <a:noFill/>
        </p:spPr>
        <p:txBody>
          <a:bodyPr vert="horz" wrap="square" lIns="0" tIns="0" rIns="0" bIns="0" rtlCol="0" anchor="t">
            <a:spAutoFit/>
          </a:bodyPr>
          <a:lstStyle/>
          <a:p>
            <a:r>
              <a:rPr lang="en-US" sz="1900" b="1">
                <a:solidFill>
                  <a:srgbClr val="101A2B"/>
                </a:solidFill>
                <a:latin typeface="Segoe UI" panose="020B0502040204020203" pitchFamily="34" charset="0"/>
              </a:rPr>
              <a:t>generated SQL</a:t>
            </a:r>
          </a:p>
        </p:txBody>
      </p:sp>
      <p:sp>
        <p:nvSpPr>
          <p:cNvPr id="19" name="TextBox 18">
            <a:extLst>
              <a:ext uri="{FF2B5EF4-FFF2-40B4-BE49-F238E27FC236}">
                <a16:creationId xmlns:a16="http://schemas.microsoft.com/office/drawing/2014/main" id="{9BC63178-01E9-2315-2F2C-38FF4491E9EE}"/>
              </a:ext>
            </a:extLst>
          </p:cNvPr>
          <p:cNvSpPr txBox="1"/>
          <p:nvPr/>
        </p:nvSpPr>
        <p:spPr>
          <a:xfrm>
            <a:off x="3644900" y="3810000"/>
            <a:ext cx="2082800" cy="646331"/>
          </a:xfrm>
          <a:prstGeom prst="rect">
            <a:avLst/>
          </a:prstGeom>
          <a:noFill/>
        </p:spPr>
        <p:txBody>
          <a:bodyPr vert="horz" wrap="square" lIns="0" tIns="0" rIns="0" bIns="0" rtlCol="0" anchor="t">
            <a:spAutoFit/>
          </a:bodyPr>
          <a:lstStyle/>
          <a:p>
            <a:r>
              <a:rPr lang="en-US" sz="1400">
                <a:solidFill>
                  <a:srgbClr val="262626"/>
                </a:solidFill>
                <a:latin typeface="Segoe UI" panose="020B0502040204020203" pitchFamily="34" charset="0"/>
              </a:rPr>
              <a:t>The model never writes or submits arbitrary Snowflake queries.</a:t>
            </a:r>
          </a:p>
        </p:txBody>
      </p:sp>
      <p:sp>
        <p:nvSpPr>
          <p:cNvPr id="20" name="Rectangle: Rounded Corners 19">
            <a:extLst>
              <a:ext uri="{FF2B5EF4-FFF2-40B4-BE49-F238E27FC236}">
                <a16:creationId xmlns:a16="http://schemas.microsoft.com/office/drawing/2014/main" id="{32DD7D44-3DDD-3147-3DC2-C54A1610A2B3}"/>
              </a:ext>
            </a:extLst>
          </p:cNvPr>
          <p:cNvSpPr/>
          <p:nvPr/>
        </p:nvSpPr>
        <p:spPr>
          <a:xfrm>
            <a:off x="6248400" y="1739900"/>
            <a:ext cx="2590800" cy="3657600"/>
          </a:xfrm>
          <a:prstGeom prst="roundRect">
            <a:avLst/>
          </a:prstGeom>
          <a:solidFill>
            <a:srgbClr val="F8F8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DD692A9-485D-A445-86F4-6EAA579A3CB7}"/>
              </a:ext>
            </a:extLst>
          </p:cNvPr>
          <p:cNvSpPr/>
          <p:nvPr/>
        </p:nvSpPr>
        <p:spPr>
          <a:xfrm>
            <a:off x="6502400" y="2006600"/>
            <a:ext cx="660400" cy="660400"/>
          </a:xfrm>
          <a:prstGeom prst="ellipse">
            <a:avLst/>
          </a:prstGeom>
          <a:solidFill>
            <a:srgbClr val="F27516"/>
          </a:solidFill>
          <a:ln>
            <a:solidFill>
              <a:srgbClr val="F27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70DD395-894B-E3B9-7729-0FD378E1606E}"/>
              </a:ext>
            </a:extLst>
          </p:cNvPr>
          <p:cNvSpPr txBox="1"/>
          <p:nvPr/>
        </p:nvSpPr>
        <p:spPr>
          <a:xfrm>
            <a:off x="6502400" y="2120900"/>
            <a:ext cx="660400" cy="369332"/>
          </a:xfrm>
          <a:prstGeom prst="rect">
            <a:avLst/>
          </a:prstGeom>
          <a:noFill/>
        </p:spPr>
        <p:txBody>
          <a:bodyPr vert="horz" wrap="square" lIns="0" tIns="0" rIns="0" bIns="0" rtlCol="0" anchor="t">
            <a:spAutoFit/>
          </a:bodyPr>
          <a:lstStyle/>
          <a:p>
            <a:pPr algn="ctr"/>
            <a:r>
              <a:rPr lang="en-US" sz="2400" b="1">
                <a:solidFill>
                  <a:srgbClr val="FFFFFF"/>
                </a:solidFill>
                <a:latin typeface="Segoe UI" panose="020B0502040204020203" pitchFamily="34" charset="0"/>
              </a:rPr>
              <a:t>3</a:t>
            </a:r>
          </a:p>
        </p:txBody>
      </p:sp>
      <p:sp>
        <p:nvSpPr>
          <p:cNvPr id="23" name="TextBox 22">
            <a:extLst>
              <a:ext uri="{FF2B5EF4-FFF2-40B4-BE49-F238E27FC236}">
                <a16:creationId xmlns:a16="http://schemas.microsoft.com/office/drawing/2014/main" id="{248DAA57-D7A8-85AF-BBBC-1ACAA9B64CAA}"/>
              </a:ext>
            </a:extLst>
          </p:cNvPr>
          <p:cNvSpPr txBox="1"/>
          <p:nvPr/>
        </p:nvSpPr>
        <p:spPr>
          <a:xfrm>
            <a:off x="6502400" y="2946400"/>
            <a:ext cx="2082800" cy="584775"/>
          </a:xfrm>
          <a:prstGeom prst="rect">
            <a:avLst/>
          </a:prstGeom>
          <a:noFill/>
        </p:spPr>
        <p:txBody>
          <a:bodyPr vert="horz" wrap="square" lIns="0" tIns="0" rIns="0" bIns="0" rtlCol="0" anchor="t">
            <a:spAutoFit/>
          </a:bodyPr>
          <a:lstStyle/>
          <a:p>
            <a:r>
              <a:rPr lang="en-US" sz="1900" b="1">
                <a:solidFill>
                  <a:srgbClr val="101A2B"/>
                </a:solidFill>
                <a:latin typeface="Segoe UI" panose="020B0502040204020203" pitchFamily="34" charset="0"/>
              </a:rPr>
              <a:t>approved operations</a:t>
            </a:r>
          </a:p>
        </p:txBody>
      </p:sp>
      <p:sp>
        <p:nvSpPr>
          <p:cNvPr id="24" name="TextBox 23">
            <a:extLst>
              <a:ext uri="{FF2B5EF4-FFF2-40B4-BE49-F238E27FC236}">
                <a16:creationId xmlns:a16="http://schemas.microsoft.com/office/drawing/2014/main" id="{D7D6D45B-F334-FEB0-7A70-753EC0C9B423}"/>
              </a:ext>
            </a:extLst>
          </p:cNvPr>
          <p:cNvSpPr txBox="1"/>
          <p:nvPr/>
        </p:nvSpPr>
        <p:spPr>
          <a:xfrm>
            <a:off x="6502400" y="3810000"/>
            <a:ext cx="2082800" cy="646331"/>
          </a:xfrm>
          <a:prstGeom prst="rect">
            <a:avLst/>
          </a:prstGeom>
          <a:noFill/>
        </p:spPr>
        <p:txBody>
          <a:bodyPr vert="horz" wrap="square" lIns="0" tIns="0" rIns="0" bIns="0" rtlCol="0" anchor="t">
            <a:spAutoFit/>
          </a:bodyPr>
          <a:lstStyle/>
          <a:p>
            <a:r>
              <a:rPr lang="en-US" sz="1400">
                <a:solidFill>
                  <a:srgbClr val="262626"/>
                </a:solidFill>
                <a:latin typeface="Segoe UI" panose="020B0502040204020203" pitchFamily="34" charset="0"/>
              </a:rPr>
              <a:t>Echo, current context, and warehouse usage summary today.</a:t>
            </a:r>
          </a:p>
        </p:txBody>
      </p:sp>
      <p:sp>
        <p:nvSpPr>
          <p:cNvPr id="25" name="Rectangle: Rounded Corners 24">
            <a:extLst>
              <a:ext uri="{FF2B5EF4-FFF2-40B4-BE49-F238E27FC236}">
                <a16:creationId xmlns:a16="http://schemas.microsoft.com/office/drawing/2014/main" id="{AEE94A0E-75D2-6609-E557-264D3018AE81}"/>
              </a:ext>
            </a:extLst>
          </p:cNvPr>
          <p:cNvSpPr/>
          <p:nvPr/>
        </p:nvSpPr>
        <p:spPr>
          <a:xfrm>
            <a:off x="9105900" y="1739900"/>
            <a:ext cx="2590800" cy="3657600"/>
          </a:xfrm>
          <a:prstGeom prst="roundRect">
            <a:avLst/>
          </a:prstGeom>
          <a:solidFill>
            <a:srgbClr val="F8F8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491E3C3-CEC3-9153-14D8-532699DEB9D1}"/>
              </a:ext>
            </a:extLst>
          </p:cNvPr>
          <p:cNvSpPr/>
          <p:nvPr/>
        </p:nvSpPr>
        <p:spPr>
          <a:xfrm>
            <a:off x="9359900" y="2006600"/>
            <a:ext cx="660400" cy="660400"/>
          </a:xfrm>
          <a:prstGeom prst="ellipse">
            <a:avLst/>
          </a:prstGeom>
          <a:solidFill>
            <a:srgbClr val="B11F4B"/>
          </a:solidFill>
          <a:ln>
            <a:solidFill>
              <a:srgbClr val="B11F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CD75702A-BA70-2509-8528-9661FB73878B}"/>
              </a:ext>
            </a:extLst>
          </p:cNvPr>
          <p:cNvSpPr txBox="1"/>
          <p:nvPr/>
        </p:nvSpPr>
        <p:spPr>
          <a:xfrm>
            <a:off x="9359900" y="2120900"/>
            <a:ext cx="660400" cy="369332"/>
          </a:xfrm>
          <a:prstGeom prst="rect">
            <a:avLst/>
          </a:prstGeom>
          <a:noFill/>
        </p:spPr>
        <p:txBody>
          <a:bodyPr vert="horz" wrap="square" lIns="0" tIns="0" rIns="0" bIns="0" rtlCol="0" anchor="t">
            <a:spAutoFit/>
          </a:bodyPr>
          <a:lstStyle/>
          <a:p>
            <a:pPr algn="ctr"/>
            <a:r>
              <a:rPr lang="en-US" sz="2400" b="1">
                <a:solidFill>
                  <a:srgbClr val="FFFFFF"/>
                </a:solidFill>
                <a:latin typeface="Segoe UI" panose="020B0502040204020203" pitchFamily="34" charset="0"/>
              </a:rPr>
              <a:t>1</a:t>
            </a:r>
          </a:p>
        </p:txBody>
      </p:sp>
      <p:sp>
        <p:nvSpPr>
          <p:cNvPr id="28" name="TextBox 27">
            <a:extLst>
              <a:ext uri="{FF2B5EF4-FFF2-40B4-BE49-F238E27FC236}">
                <a16:creationId xmlns:a16="http://schemas.microsoft.com/office/drawing/2014/main" id="{6A59C144-A9DC-5517-623B-B2FC9BE8FF30}"/>
              </a:ext>
            </a:extLst>
          </p:cNvPr>
          <p:cNvSpPr txBox="1"/>
          <p:nvPr/>
        </p:nvSpPr>
        <p:spPr>
          <a:xfrm>
            <a:off x="9359900" y="2946400"/>
            <a:ext cx="2082800" cy="584775"/>
          </a:xfrm>
          <a:prstGeom prst="rect">
            <a:avLst/>
          </a:prstGeom>
          <a:noFill/>
        </p:spPr>
        <p:txBody>
          <a:bodyPr vert="horz" wrap="square" lIns="0" tIns="0" rIns="0" bIns="0" rtlCol="0" anchor="t">
            <a:spAutoFit/>
          </a:bodyPr>
          <a:lstStyle/>
          <a:p>
            <a:r>
              <a:rPr lang="en-US" sz="1900" b="1">
                <a:solidFill>
                  <a:srgbClr val="101A2B"/>
                </a:solidFill>
                <a:latin typeface="Segoe UI" panose="020B0502040204020203" pitchFamily="34" charset="0"/>
              </a:rPr>
              <a:t>human approval gate</a:t>
            </a:r>
          </a:p>
        </p:txBody>
      </p:sp>
      <p:sp>
        <p:nvSpPr>
          <p:cNvPr id="29" name="TextBox 28">
            <a:extLst>
              <a:ext uri="{FF2B5EF4-FFF2-40B4-BE49-F238E27FC236}">
                <a16:creationId xmlns:a16="http://schemas.microsoft.com/office/drawing/2014/main" id="{B9AAE78C-217E-E7EF-42E2-C8BA5D921869}"/>
              </a:ext>
            </a:extLst>
          </p:cNvPr>
          <p:cNvSpPr txBox="1"/>
          <p:nvPr/>
        </p:nvSpPr>
        <p:spPr>
          <a:xfrm>
            <a:off x="9359900" y="3810000"/>
            <a:ext cx="2082800" cy="646331"/>
          </a:xfrm>
          <a:prstGeom prst="rect">
            <a:avLst/>
          </a:prstGeom>
          <a:noFill/>
        </p:spPr>
        <p:txBody>
          <a:bodyPr vert="horz" wrap="square" lIns="0" tIns="0" rIns="0" bIns="0" rtlCol="0" anchor="t">
            <a:spAutoFit/>
          </a:bodyPr>
          <a:lstStyle/>
          <a:p>
            <a:r>
              <a:rPr lang="en-US" sz="1400">
                <a:solidFill>
                  <a:srgbClr val="262626"/>
                </a:solidFill>
                <a:latin typeface="Segoe UI" panose="020B0502040204020203" pitchFamily="34" charset="0"/>
              </a:rPr>
              <a:t>Execution requires explicit confirmation of the reviewed plan.</a:t>
            </a:r>
          </a:p>
        </p:txBody>
      </p:sp>
      <p:sp>
        <p:nvSpPr>
          <p:cNvPr id="30" name="TextBox 29">
            <a:extLst>
              <a:ext uri="{FF2B5EF4-FFF2-40B4-BE49-F238E27FC236}">
                <a16:creationId xmlns:a16="http://schemas.microsoft.com/office/drawing/2014/main" id="{D1676467-D526-87BB-A778-F1FDF6F4D650}"/>
              </a:ext>
            </a:extLst>
          </p:cNvPr>
          <p:cNvSpPr txBox="1"/>
          <p:nvPr/>
        </p:nvSpPr>
        <p:spPr>
          <a:xfrm>
            <a:off x="533400" y="5765800"/>
            <a:ext cx="10922000" cy="276999"/>
          </a:xfrm>
          <a:prstGeom prst="rect">
            <a:avLst/>
          </a:prstGeom>
          <a:noFill/>
        </p:spPr>
        <p:txBody>
          <a:bodyPr vert="horz" wrap="square" lIns="0" tIns="0" rIns="0" bIns="0" rtlCol="0" anchor="t">
            <a:spAutoFit/>
          </a:bodyPr>
          <a:lstStyle/>
          <a:p>
            <a:pPr algn="ctr"/>
            <a:r>
              <a:rPr lang="en-US" b="1">
                <a:solidFill>
                  <a:srgbClr val="005B9A"/>
                </a:solidFill>
                <a:latin typeface="Segoe UI" panose="020B0502040204020203" pitchFamily="34" charset="0"/>
              </a:rPr>
              <a:t>The result: speed for the user without surrendering control to the model.</a:t>
            </a:r>
          </a:p>
        </p:txBody>
      </p:sp>
    </p:spTree>
    <p:extLst>
      <p:ext uri="{BB962C8B-B14F-4D97-AF65-F5344CB8AC3E}">
        <p14:creationId xmlns:p14="http://schemas.microsoft.com/office/powerpoint/2010/main" val="3771234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845AE6-B4B9-B337-B931-A9CA2F897E35}"/>
              </a:ext>
            </a:extLst>
          </p:cNvPr>
          <p:cNvSpPr/>
          <p:nvPr/>
        </p:nvSpPr>
        <p:spPr>
          <a:xfrm>
            <a:off x="533400" y="342900"/>
            <a:ext cx="88900" cy="88900"/>
          </a:xfrm>
          <a:prstGeom prst="rect">
            <a:avLst/>
          </a:prstGeom>
          <a:solidFill>
            <a:srgbClr val="D142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6101A08-2F64-AD00-ED13-7C2D23F1B7AC}"/>
              </a:ext>
            </a:extLst>
          </p:cNvPr>
          <p:cNvSpPr/>
          <p:nvPr/>
        </p:nvSpPr>
        <p:spPr>
          <a:xfrm>
            <a:off x="647700" y="342900"/>
            <a:ext cx="88900" cy="88900"/>
          </a:xfrm>
          <a:prstGeom prst="rect">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4C4ED1F-D1D5-AAEC-36BE-746FD87E7C64}"/>
              </a:ext>
            </a:extLst>
          </p:cNvPr>
          <p:cNvSpPr/>
          <p:nvPr/>
        </p:nvSpPr>
        <p:spPr>
          <a:xfrm>
            <a:off x="533400" y="457200"/>
            <a:ext cx="88900" cy="88900"/>
          </a:xfrm>
          <a:prstGeom prst="rect">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4E1DA66-E54C-0E06-4AAA-CE6F5F9CF005}"/>
              </a:ext>
            </a:extLst>
          </p:cNvPr>
          <p:cNvSpPr/>
          <p:nvPr/>
        </p:nvSpPr>
        <p:spPr>
          <a:xfrm>
            <a:off x="647700" y="457200"/>
            <a:ext cx="88900" cy="88900"/>
          </a:xfrm>
          <a:prstGeom prst="rect">
            <a:avLst/>
          </a:prstGeom>
          <a:solidFill>
            <a:srgbClr val="FFB7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4F38E3-3085-FBCD-EDE5-564E47CA407C}"/>
              </a:ext>
            </a:extLst>
          </p:cNvPr>
          <p:cNvSpPr txBox="1"/>
          <p:nvPr/>
        </p:nvSpPr>
        <p:spPr>
          <a:xfrm>
            <a:off x="863600" y="342900"/>
            <a:ext cx="1498600" cy="153888"/>
          </a:xfrm>
          <a:prstGeom prst="rect">
            <a:avLst/>
          </a:prstGeom>
          <a:noFill/>
        </p:spPr>
        <p:txBody>
          <a:bodyPr vert="horz" wrap="square" lIns="0" tIns="0" rIns="0" bIns="0" rtlCol="0" anchor="t">
            <a:spAutoFit/>
          </a:bodyPr>
          <a:lstStyle/>
          <a:p>
            <a:r>
              <a:rPr lang="en-US" sz="1000" b="1">
                <a:solidFill>
                  <a:srgbClr val="666666"/>
                </a:solidFill>
                <a:latin typeface="Segoe UI" panose="020B0502040204020203" pitchFamily="34" charset="0"/>
              </a:rPr>
              <a:t>SNOWBRIDGE</a:t>
            </a:r>
          </a:p>
        </p:txBody>
      </p:sp>
      <p:sp>
        <p:nvSpPr>
          <p:cNvPr id="7" name="TextBox 6">
            <a:extLst>
              <a:ext uri="{FF2B5EF4-FFF2-40B4-BE49-F238E27FC236}">
                <a16:creationId xmlns:a16="http://schemas.microsoft.com/office/drawing/2014/main" id="{4625C748-0548-4AAB-66F6-C07A5D3C0B00}"/>
              </a:ext>
            </a:extLst>
          </p:cNvPr>
          <p:cNvSpPr txBox="1"/>
          <p:nvPr/>
        </p:nvSpPr>
        <p:spPr>
          <a:xfrm>
            <a:off x="9525000" y="355600"/>
            <a:ext cx="2095500" cy="138499"/>
          </a:xfrm>
          <a:prstGeom prst="rect">
            <a:avLst/>
          </a:prstGeom>
          <a:noFill/>
        </p:spPr>
        <p:txBody>
          <a:bodyPr vert="horz" wrap="square" lIns="0" tIns="0" rIns="0" bIns="0" rtlCol="0" anchor="t">
            <a:spAutoFit/>
          </a:bodyPr>
          <a:lstStyle/>
          <a:p>
            <a:pPr algn="r"/>
            <a:r>
              <a:rPr lang="en-US" sz="900" b="1">
                <a:solidFill>
                  <a:srgbClr val="0078D4"/>
                </a:solidFill>
                <a:latin typeface="Segoe UI" panose="020B0502040204020203" pitchFamily="34" charset="0"/>
              </a:rPr>
              <a:t>GOVERNED WORKFLOW</a:t>
            </a:r>
          </a:p>
        </p:txBody>
      </p:sp>
      <p:sp>
        <p:nvSpPr>
          <p:cNvPr id="8" name="TextBox 7">
            <a:extLst>
              <a:ext uri="{FF2B5EF4-FFF2-40B4-BE49-F238E27FC236}">
                <a16:creationId xmlns:a16="http://schemas.microsoft.com/office/drawing/2014/main" id="{5FA60DE6-A00B-8F0A-981D-E22BA80677F4}"/>
              </a:ext>
            </a:extLst>
          </p:cNvPr>
          <p:cNvSpPr txBox="1"/>
          <p:nvPr/>
        </p:nvSpPr>
        <p:spPr>
          <a:xfrm>
            <a:off x="533400" y="825500"/>
            <a:ext cx="10922000" cy="430887"/>
          </a:xfrm>
          <a:prstGeom prst="rect">
            <a:avLst/>
          </a:prstGeom>
          <a:noFill/>
        </p:spPr>
        <p:txBody>
          <a:bodyPr vert="horz" wrap="square" lIns="0" tIns="0" rIns="0" bIns="0" rtlCol="0" anchor="t">
            <a:spAutoFit/>
          </a:bodyPr>
          <a:lstStyle/>
          <a:p>
            <a:r>
              <a:rPr lang="fr-FR" sz="2800" b="1">
                <a:solidFill>
                  <a:srgbClr val="101A2B"/>
                </a:solidFill>
                <a:latin typeface="Segoe UI" panose="020B0502040204020203" pitchFamily="34" charset="0"/>
              </a:rPr>
              <a:t>AI interprets intent; application code controls execution</a:t>
            </a:r>
            <a:endParaRPr lang="en-US" sz="2800" b="1">
              <a:solidFill>
                <a:srgbClr val="101A2B"/>
              </a:solidFill>
              <a:latin typeface="Segoe UI" panose="020B0502040204020203" pitchFamily="34" charset="0"/>
            </a:endParaRPr>
          </a:p>
        </p:txBody>
      </p:sp>
      <p:sp>
        <p:nvSpPr>
          <p:cNvPr id="9" name="TextBox 8">
            <a:extLst>
              <a:ext uri="{FF2B5EF4-FFF2-40B4-BE49-F238E27FC236}">
                <a16:creationId xmlns:a16="http://schemas.microsoft.com/office/drawing/2014/main" id="{7BEECF85-1EE4-1492-9897-A34492A4C229}"/>
              </a:ext>
            </a:extLst>
          </p:cNvPr>
          <p:cNvSpPr txBox="1"/>
          <p:nvPr/>
        </p:nvSpPr>
        <p:spPr>
          <a:xfrm>
            <a:off x="11430000" y="6248400"/>
            <a:ext cx="330200" cy="138499"/>
          </a:xfrm>
          <a:prstGeom prst="rect">
            <a:avLst/>
          </a:prstGeom>
          <a:noFill/>
        </p:spPr>
        <p:txBody>
          <a:bodyPr vert="horz" wrap="square" lIns="0" tIns="0" rIns="0" bIns="0" rtlCol="0" anchor="t">
            <a:spAutoFit/>
          </a:bodyPr>
          <a:lstStyle/>
          <a:p>
            <a:pPr algn="r"/>
            <a:r>
              <a:rPr lang="en-US" sz="900">
                <a:solidFill>
                  <a:srgbClr val="666666"/>
                </a:solidFill>
                <a:latin typeface="Segoe UI" panose="020B0502040204020203" pitchFamily="34" charset="0"/>
              </a:rPr>
              <a:t>04</a:t>
            </a:r>
          </a:p>
        </p:txBody>
      </p:sp>
      <p:sp>
        <p:nvSpPr>
          <p:cNvPr id="10" name="Oval 9">
            <a:extLst>
              <a:ext uri="{FF2B5EF4-FFF2-40B4-BE49-F238E27FC236}">
                <a16:creationId xmlns:a16="http://schemas.microsoft.com/office/drawing/2014/main" id="{EDE0B3EE-795F-195C-845F-F7B6313B0FD6}"/>
              </a:ext>
            </a:extLst>
          </p:cNvPr>
          <p:cNvSpPr/>
          <p:nvPr/>
        </p:nvSpPr>
        <p:spPr>
          <a:xfrm>
            <a:off x="1143000" y="2082800"/>
            <a:ext cx="711200" cy="711200"/>
          </a:xfrm>
          <a:prstGeom prst="ellipse">
            <a:avLst/>
          </a:prstGeom>
          <a:solidFill>
            <a:srgbClr val="0078D4"/>
          </a:solidFill>
          <a:ln>
            <a:solidFill>
              <a:srgbClr val="0078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C5F78D8-CBDA-8A64-3FD4-BE5662497737}"/>
              </a:ext>
            </a:extLst>
          </p:cNvPr>
          <p:cNvSpPr txBox="1"/>
          <p:nvPr/>
        </p:nvSpPr>
        <p:spPr>
          <a:xfrm>
            <a:off x="1143000" y="2235200"/>
            <a:ext cx="711200" cy="307777"/>
          </a:xfrm>
          <a:prstGeom prst="rect">
            <a:avLst/>
          </a:prstGeom>
          <a:noFill/>
        </p:spPr>
        <p:txBody>
          <a:bodyPr vert="horz" wrap="square" lIns="0" tIns="0" rIns="0" bIns="0" rtlCol="0" anchor="t">
            <a:spAutoFit/>
          </a:bodyPr>
          <a:lstStyle/>
          <a:p>
            <a:pPr algn="ctr"/>
            <a:r>
              <a:rPr lang="en-US" sz="2000" b="1">
                <a:solidFill>
                  <a:srgbClr val="FFFFFF"/>
                </a:solidFill>
                <a:latin typeface="Segoe UI" panose="020B0502040204020203" pitchFamily="34" charset="0"/>
              </a:rPr>
              <a:t>1</a:t>
            </a:r>
          </a:p>
        </p:txBody>
      </p:sp>
      <p:sp>
        <p:nvSpPr>
          <p:cNvPr id="12" name="TextBox 11">
            <a:extLst>
              <a:ext uri="{FF2B5EF4-FFF2-40B4-BE49-F238E27FC236}">
                <a16:creationId xmlns:a16="http://schemas.microsoft.com/office/drawing/2014/main" id="{35452168-387F-2DF7-E55D-C1179B015447}"/>
              </a:ext>
            </a:extLst>
          </p:cNvPr>
          <p:cNvSpPr txBox="1"/>
          <p:nvPr/>
        </p:nvSpPr>
        <p:spPr>
          <a:xfrm>
            <a:off x="533400" y="3048000"/>
            <a:ext cx="1930400" cy="261610"/>
          </a:xfrm>
          <a:prstGeom prst="rect">
            <a:avLst/>
          </a:prstGeom>
          <a:noFill/>
        </p:spPr>
        <p:txBody>
          <a:bodyPr vert="horz" wrap="square" lIns="0" tIns="0" rIns="0" bIns="0" rtlCol="0" anchor="t">
            <a:spAutoFit/>
          </a:bodyPr>
          <a:lstStyle/>
          <a:p>
            <a:pPr algn="ctr"/>
            <a:r>
              <a:rPr lang="en-US" sz="1700" b="1">
                <a:solidFill>
                  <a:srgbClr val="101A2B"/>
                </a:solidFill>
                <a:latin typeface="Segoe UI" panose="020B0502040204020203" pitchFamily="34" charset="0"/>
              </a:rPr>
              <a:t>Ask</a:t>
            </a:r>
          </a:p>
        </p:txBody>
      </p:sp>
      <p:sp>
        <p:nvSpPr>
          <p:cNvPr id="13" name="TextBox 12">
            <a:extLst>
              <a:ext uri="{FF2B5EF4-FFF2-40B4-BE49-F238E27FC236}">
                <a16:creationId xmlns:a16="http://schemas.microsoft.com/office/drawing/2014/main" id="{C819F4C3-4227-1C03-C380-349405652A60}"/>
              </a:ext>
            </a:extLst>
          </p:cNvPr>
          <p:cNvSpPr txBox="1"/>
          <p:nvPr/>
        </p:nvSpPr>
        <p:spPr>
          <a:xfrm>
            <a:off x="533400" y="3517900"/>
            <a:ext cx="1930400" cy="184666"/>
          </a:xfrm>
          <a:prstGeom prst="rect">
            <a:avLst/>
          </a:prstGeom>
          <a:noFill/>
        </p:spPr>
        <p:txBody>
          <a:bodyPr vert="horz" wrap="square" lIns="0" tIns="0" rIns="0" bIns="0" rtlCol="0" anchor="t">
            <a:spAutoFit/>
          </a:bodyPr>
          <a:lstStyle/>
          <a:p>
            <a:pPr algn="ctr"/>
            <a:r>
              <a:rPr lang="en-US" sz="1200">
                <a:solidFill>
                  <a:srgbClr val="666666"/>
                </a:solidFill>
                <a:latin typeface="Segoe UI" panose="020B0502040204020203" pitchFamily="34" charset="0"/>
              </a:rPr>
              <a:t>Business question</a:t>
            </a:r>
          </a:p>
        </p:txBody>
      </p:sp>
      <p:sp>
        <p:nvSpPr>
          <p:cNvPr id="14" name="Arrow: Chevron 13">
            <a:extLst>
              <a:ext uri="{FF2B5EF4-FFF2-40B4-BE49-F238E27FC236}">
                <a16:creationId xmlns:a16="http://schemas.microsoft.com/office/drawing/2014/main" id="{2EA59F0B-FB37-B8DA-5B27-66244113D658}"/>
              </a:ext>
            </a:extLst>
          </p:cNvPr>
          <p:cNvSpPr/>
          <p:nvPr/>
        </p:nvSpPr>
        <p:spPr>
          <a:xfrm>
            <a:off x="2476500" y="2273300"/>
            <a:ext cx="304800" cy="304800"/>
          </a:xfrm>
          <a:prstGeom prst="chevron">
            <a:avLst/>
          </a:prstGeom>
          <a:solidFill>
            <a:srgbClr val="D9D9D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Oval 14">
            <a:extLst>
              <a:ext uri="{FF2B5EF4-FFF2-40B4-BE49-F238E27FC236}">
                <a16:creationId xmlns:a16="http://schemas.microsoft.com/office/drawing/2014/main" id="{0E7A9214-AEDB-71A8-9D73-3446C6EA7627}"/>
              </a:ext>
            </a:extLst>
          </p:cNvPr>
          <p:cNvSpPr/>
          <p:nvPr/>
        </p:nvSpPr>
        <p:spPr>
          <a:xfrm>
            <a:off x="3429000" y="2082800"/>
            <a:ext cx="711200" cy="711200"/>
          </a:xfrm>
          <a:prstGeom prst="ellipse">
            <a:avLst/>
          </a:prstGeom>
          <a:solidFill>
            <a:srgbClr val="F27516"/>
          </a:solidFill>
          <a:ln>
            <a:solidFill>
              <a:srgbClr val="F27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060291F-B040-E969-53FC-00A58E4DD257}"/>
              </a:ext>
            </a:extLst>
          </p:cNvPr>
          <p:cNvSpPr txBox="1"/>
          <p:nvPr/>
        </p:nvSpPr>
        <p:spPr>
          <a:xfrm>
            <a:off x="3429000" y="2235200"/>
            <a:ext cx="711200" cy="307777"/>
          </a:xfrm>
          <a:prstGeom prst="rect">
            <a:avLst/>
          </a:prstGeom>
          <a:noFill/>
        </p:spPr>
        <p:txBody>
          <a:bodyPr vert="horz" wrap="square" lIns="0" tIns="0" rIns="0" bIns="0" rtlCol="0" anchor="t">
            <a:spAutoFit/>
          </a:bodyPr>
          <a:lstStyle/>
          <a:p>
            <a:pPr algn="ctr"/>
            <a:r>
              <a:rPr lang="en-US" sz="2000" b="1">
                <a:solidFill>
                  <a:srgbClr val="FFFFFF"/>
                </a:solidFill>
                <a:latin typeface="Segoe UI" panose="020B0502040204020203" pitchFamily="34" charset="0"/>
              </a:rPr>
              <a:t>2</a:t>
            </a:r>
          </a:p>
        </p:txBody>
      </p:sp>
      <p:sp>
        <p:nvSpPr>
          <p:cNvPr id="17" name="TextBox 16">
            <a:extLst>
              <a:ext uri="{FF2B5EF4-FFF2-40B4-BE49-F238E27FC236}">
                <a16:creationId xmlns:a16="http://schemas.microsoft.com/office/drawing/2014/main" id="{C5113FD4-063F-CEA7-2A84-504EBB798DE9}"/>
              </a:ext>
            </a:extLst>
          </p:cNvPr>
          <p:cNvSpPr txBox="1"/>
          <p:nvPr/>
        </p:nvSpPr>
        <p:spPr>
          <a:xfrm>
            <a:off x="2819400" y="3048000"/>
            <a:ext cx="1930400" cy="261610"/>
          </a:xfrm>
          <a:prstGeom prst="rect">
            <a:avLst/>
          </a:prstGeom>
          <a:noFill/>
        </p:spPr>
        <p:txBody>
          <a:bodyPr vert="horz" wrap="square" lIns="0" tIns="0" rIns="0" bIns="0" rtlCol="0" anchor="t">
            <a:spAutoFit/>
          </a:bodyPr>
          <a:lstStyle/>
          <a:p>
            <a:pPr algn="ctr"/>
            <a:r>
              <a:rPr lang="en-US" sz="1700" b="1">
                <a:solidFill>
                  <a:srgbClr val="101A2B"/>
                </a:solidFill>
                <a:latin typeface="Segoe UI" panose="020B0502040204020203" pitchFamily="34" charset="0"/>
              </a:rPr>
              <a:t>Interpret</a:t>
            </a:r>
          </a:p>
        </p:txBody>
      </p:sp>
      <p:sp>
        <p:nvSpPr>
          <p:cNvPr id="18" name="TextBox 17">
            <a:extLst>
              <a:ext uri="{FF2B5EF4-FFF2-40B4-BE49-F238E27FC236}">
                <a16:creationId xmlns:a16="http://schemas.microsoft.com/office/drawing/2014/main" id="{5A4AF0ED-D096-CE60-3075-22681802A563}"/>
              </a:ext>
            </a:extLst>
          </p:cNvPr>
          <p:cNvSpPr txBox="1"/>
          <p:nvPr/>
        </p:nvSpPr>
        <p:spPr>
          <a:xfrm>
            <a:off x="2819400" y="3517900"/>
            <a:ext cx="1930400" cy="184666"/>
          </a:xfrm>
          <a:prstGeom prst="rect">
            <a:avLst/>
          </a:prstGeom>
          <a:noFill/>
        </p:spPr>
        <p:txBody>
          <a:bodyPr vert="horz" wrap="square" lIns="0" tIns="0" rIns="0" bIns="0" rtlCol="0" anchor="t">
            <a:spAutoFit/>
          </a:bodyPr>
          <a:lstStyle/>
          <a:p>
            <a:pPr algn="ctr"/>
            <a:r>
              <a:rPr lang="en-US" sz="1200">
                <a:solidFill>
                  <a:srgbClr val="666666"/>
                </a:solidFill>
                <a:latin typeface="Segoe UI" panose="020B0502040204020203" pitchFamily="34" charset="0"/>
              </a:rPr>
              <a:t>Foundry structures intent</a:t>
            </a:r>
          </a:p>
        </p:txBody>
      </p:sp>
      <p:sp>
        <p:nvSpPr>
          <p:cNvPr id="19" name="Arrow: Chevron 18">
            <a:extLst>
              <a:ext uri="{FF2B5EF4-FFF2-40B4-BE49-F238E27FC236}">
                <a16:creationId xmlns:a16="http://schemas.microsoft.com/office/drawing/2014/main" id="{732451C9-E9D0-8530-400D-2FA79D038F9A}"/>
              </a:ext>
            </a:extLst>
          </p:cNvPr>
          <p:cNvSpPr/>
          <p:nvPr/>
        </p:nvSpPr>
        <p:spPr>
          <a:xfrm>
            <a:off x="4762500" y="2273300"/>
            <a:ext cx="304800" cy="304800"/>
          </a:xfrm>
          <a:prstGeom prst="chevron">
            <a:avLst/>
          </a:prstGeom>
          <a:solidFill>
            <a:srgbClr val="D9D9D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Oval 19">
            <a:extLst>
              <a:ext uri="{FF2B5EF4-FFF2-40B4-BE49-F238E27FC236}">
                <a16:creationId xmlns:a16="http://schemas.microsoft.com/office/drawing/2014/main" id="{487DA8C4-EB5A-BEDF-989F-51D5DAA7EFBC}"/>
              </a:ext>
            </a:extLst>
          </p:cNvPr>
          <p:cNvSpPr/>
          <p:nvPr/>
        </p:nvSpPr>
        <p:spPr>
          <a:xfrm>
            <a:off x="5715000" y="2082800"/>
            <a:ext cx="711200" cy="711200"/>
          </a:xfrm>
          <a:prstGeom prst="ellipse">
            <a:avLst/>
          </a:prstGeom>
          <a:solidFill>
            <a:srgbClr val="107C10"/>
          </a:solidFill>
          <a:ln>
            <a:solidFill>
              <a:srgbClr val="107C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848BCFC-B8B2-9AEE-B4F1-FC3D138B8527}"/>
              </a:ext>
            </a:extLst>
          </p:cNvPr>
          <p:cNvSpPr txBox="1"/>
          <p:nvPr/>
        </p:nvSpPr>
        <p:spPr>
          <a:xfrm>
            <a:off x="5715000" y="2235200"/>
            <a:ext cx="711200" cy="307777"/>
          </a:xfrm>
          <a:prstGeom prst="rect">
            <a:avLst/>
          </a:prstGeom>
          <a:noFill/>
        </p:spPr>
        <p:txBody>
          <a:bodyPr vert="horz" wrap="square" lIns="0" tIns="0" rIns="0" bIns="0" rtlCol="0" anchor="t">
            <a:spAutoFit/>
          </a:bodyPr>
          <a:lstStyle/>
          <a:p>
            <a:pPr algn="ctr"/>
            <a:r>
              <a:rPr lang="en-US" sz="2000" b="1">
                <a:solidFill>
                  <a:srgbClr val="FFFFFF"/>
                </a:solidFill>
                <a:latin typeface="Segoe UI" panose="020B0502040204020203" pitchFamily="34" charset="0"/>
              </a:rPr>
              <a:t>3</a:t>
            </a:r>
          </a:p>
        </p:txBody>
      </p:sp>
      <p:sp>
        <p:nvSpPr>
          <p:cNvPr id="22" name="TextBox 21">
            <a:extLst>
              <a:ext uri="{FF2B5EF4-FFF2-40B4-BE49-F238E27FC236}">
                <a16:creationId xmlns:a16="http://schemas.microsoft.com/office/drawing/2014/main" id="{F7E32595-2071-F2ED-183D-8DC74BBC56FF}"/>
              </a:ext>
            </a:extLst>
          </p:cNvPr>
          <p:cNvSpPr txBox="1"/>
          <p:nvPr/>
        </p:nvSpPr>
        <p:spPr>
          <a:xfrm>
            <a:off x="5105400" y="3048000"/>
            <a:ext cx="1930400" cy="261610"/>
          </a:xfrm>
          <a:prstGeom prst="rect">
            <a:avLst/>
          </a:prstGeom>
          <a:noFill/>
        </p:spPr>
        <p:txBody>
          <a:bodyPr vert="horz" wrap="square" lIns="0" tIns="0" rIns="0" bIns="0" rtlCol="0" anchor="t">
            <a:spAutoFit/>
          </a:bodyPr>
          <a:lstStyle/>
          <a:p>
            <a:pPr algn="ctr"/>
            <a:r>
              <a:rPr lang="en-US" sz="1700" b="1">
                <a:solidFill>
                  <a:srgbClr val="101A2B"/>
                </a:solidFill>
                <a:latin typeface="Segoe UI" panose="020B0502040204020203" pitchFamily="34" charset="0"/>
              </a:rPr>
              <a:t>Validate</a:t>
            </a:r>
          </a:p>
        </p:txBody>
      </p:sp>
      <p:sp>
        <p:nvSpPr>
          <p:cNvPr id="23" name="TextBox 22">
            <a:extLst>
              <a:ext uri="{FF2B5EF4-FFF2-40B4-BE49-F238E27FC236}">
                <a16:creationId xmlns:a16="http://schemas.microsoft.com/office/drawing/2014/main" id="{CA3278FC-D9E5-B8FB-E25E-DA10FB073BA0}"/>
              </a:ext>
            </a:extLst>
          </p:cNvPr>
          <p:cNvSpPr txBox="1"/>
          <p:nvPr/>
        </p:nvSpPr>
        <p:spPr>
          <a:xfrm>
            <a:off x="5105400" y="3517900"/>
            <a:ext cx="1930400" cy="184666"/>
          </a:xfrm>
          <a:prstGeom prst="rect">
            <a:avLst/>
          </a:prstGeom>
          <a:noFill/>
        </p:spPr>
        <p:txBody>
          <a:bodyPr vert="horz" wrap="square" lIns="0" tIns="0" rIns="0" bIns="0" rtlCol="0" anchor="t">
            <a:spAutoFit/>
          </a:bodyPr>
          <a:lstStyle/>
          <a:p>
            <a:pPr algn="ctr"/>
            <a:r>
              <a:rPr lang="en-US" sz="1200">
                <a:solidFill>
                  <a:srgbClr val="666666"/>
                </a:solidFill>
                <a:latin typeface="Segoe UI" panose="020B0502040204020203" pitchFamily="34" charset="0"/>
              </a:rPr>
              <a:t>Catalog + parameter rules</a:t>
            </a:r>
          </a:p>
        </p:txBody>
      </p:sp>
      <p:sp>
        <p:nvSpPr>
          <p:cNvPr id="24" name="Arrow: Chevron 23">
            <a:extLst>
              <a:ext uri="{FF2B5EF4-FFF2-40B4-BE49-F238E27FC236}">
                <a16:creationId xmlns:a16="http://schemas.microsoft.com/office/drawing/2014/main" id="{D573962D-09A8-D89C-9A71-6D593B938B71}"/>
              </a:ext>
            </a:extLst>
          </p:cNvPr>
          <p:cNvSpPr/>
          <p:nvPr/>
        </p:nvSpPr>
        <p:spPr>
          <a:xfrm>
            <a:off x="7048500" y="2273300"/>
            <a:ext cx="304800" cy="304800"/>
          </a:xfrm>
          <a:prstGeom prst="chevron">
            <a:avLst/>
          </a:prstGeom>
          <a:solidFill>
            <a:srgbClr val="D9D9D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Oval 24">
            <a:extLst>
              <a:ext uri="{FF2B5EF4-FFF2-40B4-BE49-F238E27FC236}">
                <a16:creationId xmlns:a16="http://schemas.microsoft.com/office/drawing/2014/main" id="{98FC496E-CC86-6FDB-8780-6E21B49CCB10}"/>
              </a:ext>
            </a:extLst>
          </p:cNvPr>
          <p:cNvSpPr/>
          <p:nvPr/>
        </p:nvSpPr>
        <p:spPr>
          <a:xfrm>
            <a:off x="8001000" y="2082800"/>
            <a:ext cx="711200" cy="711200"/>
          </a:xfrm>
          <a:prstGeom prst="ellipse">
            <a:avLst/>
          </a:prstGeom>
          <a:solidFill>
            <a:srgbClr val="B11F4B"/>
          </a:solidFill>
          <a:ln>
            <a:solidFill>
              <a:srgbClr val="B11F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D79FDDE-2E41-7D1F-DB33-884E04DD5359}"/>
              </a:ext>
            </a:extLst>
          </p:cNvPr>
          <p:cNvSpPr txBox="1"/>
          <p:nvPr/>
        </p:nvSpPr>
        <p:spPr>
          <a:xfrm>
            <a:off x="8001000" y="2235200"/>
            <a:ext cx="711200" cy="307777"/>
          </a:xfrm>
          <a:prstGeom prst="rect">
            <a:avLst/>
          </a:prstGeom>
          <a:noFill/>
        </p:spPr>
        <p:txBody>
          <a:bodyPr vert="horz" wrap="square" lIns="0" tIns="0" rIns="0" bIns="0" rtlCol="0" anchor="t">
            <a:spAutoFit/>
          </a:bodyPr>
          <a:lstStyle/>
          <a:p>
            <a:pPr algn="ctr"/>
            <a:r>
              <a:rPr lang="en-US" sz="2000" b="1">
                <a:solidFill>
                  <a:srgbClr val="FFFFFF"/>
                </a:solidFill>
                <a:latin typeface="Segoe UI" panose="020B0502040204020203" pitchFamily="34" charset="0"/>
              </a:rPr>
              <a:t>4</a:t>
            </a:r>
          </a:p>
        </p:txBody>
      </p:sp>
      <p:sp>
        <p:nvSpPr>
          <p:cNvPr id="27" name="TextBox 26">
            <a:extLst>
              <a:ext uri="{FF2B5EF4-FFF2-40B4-BE49-F238E27FC236}">
                <a16:creationId xmlns:a16="http://schemas.microsoft.com/office/drawing/2014/main" id="{32384481-26C1-E77D-77C0-14667E720EB9}"/>
              </a:ext>
            </a:extLst>
          </p:cNvPr>
          <p:cNvSpPr txBox="1"/>
          <p:nvPr/>
        </p:nvSpPr>
        <p:spPr>
          <a:xfrm>
            <a:off x="7391400" y="3048000"/>
            <a:ext cx="1930400" cy="261610"/>
          </a:xfrm>
          <a:prstGeom prst="rect">
            <a:avLst/>
          </a:prstGeom>
          <a:noFill/>
        </p:spPr>
        <p:txBody>
          <a:bodyPr vert="horz" wrap="square" lIns="0" tIns="0" rIns="0" bIns="0" rtlCol="0" anchor="t">
            <a:spAutoFit/>
          </a:bodyPr>
          <a:lstStyle/>
          <a:p>
            <a:pPr algn="ctr"/>
            <a:r>
              <a:rPr lang="en-US" sz="1700" b="1">
                <a:solidFill>
                  <a:srgbClr val="101A2B"/>
                </a:solidFill>
                <a:latin typeface="Segoe UI" panose="020B0502040204020203" pitchFamily="34" charset="0"/>
              </a:rPr>
              <a:t>Approve</a:t>
            </a:r>
          </a:p>
        </p:txBody>
      </p:sp>
      <p:sp>
        <p:nvSpPr>
          <p:cNvPr id="28" name="TextBox 27">
            <a:extLst>
              <a:ext uri="{FF2B5EF4-FFF2-40B4-BE49-F238E27FC236}">
                <a16:creationId xmlns:a16="http://schemas.microsoft.com/office/drawing/2014/main" id="{EA3788E4-2C29-014B-C61D-122D8295175C}"/>
              </a:ext>
            </a:extLst>
          </p:cNvPr>
          <p:cNvSpPr txBox="1"/>
          <p:nvPr/>
        </p:nvSpPr>
        <p:spPr>
          <a:xfrm>
            <a:off x="7391400" y="3517900"/>
            <a:ext cx="1930400" cy="184666"/>
          </a:xfrm>
          <a:prstGeom prst="rect">
            <a:avLst/>
          </a:prstGeom>
          <a:noFill/>
        </p:spPr>
        <p:txBody>
          <a:bodyPr vert="horz" wrap="square" lIns="0" tIns="0" rIns="0" bIns="0" rtlCol="0" anchor="t">
            <a:spAutoFit/>
          </a:bodyPr>
          <a:lstStyle/>
          <a:p>
            <a:pPr algn="ctr"/>
            <a:r>
              <a:rPr lang="en-US" sz="1200">
                <a:solidFill>
                  <a:srgbClr val="666666"/>
                </a:solidFill>
                <a:latin typeface="Segoe UI" panose="020B0502040204020203" pitchFamily="34" charset="0"/>
              </a:rPr>
              <a:t>Human confirmation</a:t>
            </a:r>
          </a:p>
        </p:txBody>
      </p:sp>
      <p:sp>
        <p:nvSpPr>
          <p:cNvPr id="29" name="Arrow: Chevron 28">
            <a:extLst>
              <a:ext uri="{FF2B5EF4-FFF2-40B4-BE49-F238E27FC236}">
                <a16:creationId xmlns:a16="http://schemas.microsoft.com/office/drawing/2014/main" id="{83254E4D-8B7E-84A2-BF51-B7861C47C26A}"/>
              </a:ext>
            </a:extLst>
          </p:cNvPr>
          <p:cNvSpPr/>
          <p:nvPr/>
        </p:nvSpPr>
        <p:spPr>
          <a:xfrm>
            <a:off x="9334500" y="2273300"/>
            <a:ext cx="304800" cy="304800"/>
          </a:xfrm>
          <a:prstGeom prst="chevron">
            <a:avLst/>
          </a:prstGeom>
          <a:solidFill>
            <a:srgbClr val="D9D9D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Oval 29">
            <a:extLst>
              <a:ext uri="{FF2B5EF4-FFF2-40B4-BE49-F238E27FC236}">
                <a16:creationId xmlns:a16="http://schemas.microsoft.com/office/drawing/2014/main" id="{8AF83391-5A7F-FAE8-ED16-04DCFE3AC32D}"/>
              </a:ext>
            </a:extLst>
          </p:cNvPr>
          <p:cNvSpPr/>
          <p:nvPr/>
        </p:nvSpPr>
        <p:spPr>
          <a:xfrm>
            <a:off x="10287000" y="2082800"/>
            <a:ext cx="711200" cy="711200"/>
          </a:xfrm>
          <a:prstGeom prst="ellipse">
            <a:avLst/>
          </a:prstGeom>
          <a:solidFill>
            <a:srgbClr val="005B9A"/>
          </a:solidFill>
          <a:ln>
            <a:solidFill>
              <a:srgbClr val="005B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DE8D12A7-0832-0C06-649B-D82A0A93A086}"/>
              </a:ext>
            </a:extLst>
          </p:cNvPr>
          <p:cNvSpPr txBox="1"/>
          <p:nvPr/>
        </p:nvSpPr>
        <p:spPr>
          <a:xfrm>
            <a:off x="10287000" y="2235200"/>
            <a:ext cx="711200" cy="307777"/>
          </a:xfrm>
          <a:prstGeom prst="rect">
            <a:avLst/>
          </a:prstGeom>
          <a:noFill/>
        </p:spPr>
        <p:txBody>
          <a:bodyPr vert="horz" wrap="square" lIns="0" tIns="0" rIns="0" bIns="0" rtlCol="0" anchor="t">
            <a:spAutoFit/>
          </a:bodyPr>
          <a:lstStyle/>
          <a:p>
            <a:pPr algn="ctr"/>
            <a:r>
              <a:rPr lang="en-US" sz="2000" b="1">
                <a:solidFill>
                  <a:srgbClr val="FFFFFF"/>
                </a:solidFill>
                <a:latin typeface="Segoe UI" panose="020B0502040204020203" pitchFamily="34" charset="0"/>
              </a:rPr>
              <a:t>5</a:t>
            </a:r>
          </a:p>
        </p:txBody>
      </p:sp>
      <p:sp>
        <p:nvSpPr>
          <p:cNvPr id="32" name="TextBox 31">
            <a:extLst>
              <a:ext uri="{FF2B5EF4-FFF2-40B4-BE49-F238E27FC236}">
                <a16:creationId xmlns:a16="http://schemas.microsoft.com/office/drawing/2014/main" id="{C5814BB1-4CAB-1B6B-BFDA-E7445C8A28C3}"/>
              </a:ext>
            </a:extLst>
          </p:cNvPr>
          <p:cNvSpPr txBox="1"/>
          <p:nvPr/>
        </p:nvSpPr>
        <p:spPr>
          <a:xfrm>
            <a:off x="9677400" y="3048000"/>
            <a:ext cx="1930400" cy="261610"/>
          </a:xfrm>
          <a:prstGeom prst="rect">
            <a:avLst/>
          </a:prstGeom>
          <a:noFill/>
        </p:spPr>
        <p:txBody>
          <a:bodyPr vert="horz" wrap="square" lIns="0" tIns="0" rIns="0" bIns="0" rtlCol="0" anchor="t">
            <a:spAutoFit/>
          </a:bodyPr>
          <a:lstStyle/>
          <a:p>
            <a:pPr algn="ctr"/>
            <a:r>
              <a:rPr lang="en-US" sz="1700" b="1">
                <a:solidFill>
                  <a:srgbClr val="101A2B"/>
                </a:solidFill>
                <a:latin typeface="Segoe UI" panose="020B0502040204020203" pitchFamily="34" charset="0"/>
              </a:rPr>
              <a:t>Execute</a:t>
            </a:r>
          </a:p>
        </p:txBody>
      </p:sp>
      <p:sp>
        <p:nvSpPr>
          <p:cNvPr id="33" name="TextBox 32">
            <a:extLst>
              <a:ext uri="{FF2B5EF4-FFF2-40B4-BE49-F238E27FC236}">
                <a16:creationId xmlns:a16="http://schemas.microsoft.com/office/drawing/2014/main" id="{CE93A084-82CE-DB10-9FFD-320094D8422A}"/>
              </a:ext>
            </a:extLst>
          </p:cNvPr>
          <p:cNvSpPr txBox="1"/>
          <p:nvPr/>
        </p:nvSpPr>
        <p:spPr>
          <a:xfrm>
            <a:off x="9677400" y="3517900"/>
            <a:ext cx="1930400" cy="184666"/>
          </a:xfrm>
          <a:prstGeom prst="rect">
            <a:avLst/>
          </a:prstGeom>
          <a:noFill/>
        </p:spPr>
        <p:txBody>
          <a:bodyPr vert="horz" wrap="square" lIns="0" tIns="0" rIns="0" bIns="0" rtlCol="0" anchor="t">
            <a:spAutoFit/>
          </a:bodyPr>
          <a:lstStyle/>
          <a:p>
            <a:pPr algn="ctr"/>
            <a:r>
              <a:rPr lang="en-US" sz="1200">
                <a:solidFill>
                  <a:srgbClr val="666666"/>
                </a:solidFill>
                <a:latin typeface="Segoe UI" panose="020B0502040204020203" pitchFamily="34" charset="0"/>
              </a:rPr>
              <a:t>Owned connector logic</a:t>
            </a:r>
          </a:p>
        </p:txBody>
      </p:sp>
      <p:sp>
        <p:nvSpPr>
          <p:cNvPr id="34" name="Rectangle: Rounded Corners 33">
            <a:extLst>
              <a:ext uri="{FF2B5EF4-FFF2-40B4-BE49-F238E27FC236}">
                <a16:creationId xmlns:a16="http://schemas.microsoft.com/office/drawing/2014/main" id="{887B1FE7-A231-7961-5EA5-7C68E3B45F0B}"/>
              </a:ext>
            </a:extLst>
          </p:cNvPr>
          <p:cNvSpPr/>
          <p:nvPr/>
        </p:nvSpPr>
        <p:spPr>
          <a:xfrm>
            <a:off x="2857500" y="4749800"/>
            <a:ext cx="6477000" cy="812800"/>
          </a:xfrm>
          <a:prstGeom prst="roundRect">
            <a:avLst/>
          </a:prstGeom>
          <a:solidFill>
            <a:srgbClr val="101A2B"/>
          </a:solidFill>
          <a:ln w="12700">
            <a:solidFill>
              <a:srgbClr val="101A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AC440C87-CCC9-15A9-9706-822A1151C895}"/>
              </a:ext>
            </a:extLst>
          </p:cNvPr>
          <p:cNvSpPr txBox="1"/>
          <p:nvPr/>
        </p:nvSpPr>
        <p:spPr>
          <a:xfrm>
            <a:off x="3149600" y="4991100"/>
            <a:ext cx="5892800" cy="246221"/>
          </a:xfrm>
          <a:prstGeom prst="rect">
            <a:avLst/>
          </a:prstGeom>
          <a:noFill/>
        </p:spPr>
        <p:txBody>
          <a:bodyPr vert="horz" wrap="square" lIns="0" tIns="0" rIns="0" bIns="0" rtlCol="0" anchor="t">
            <a:spAutoFit/>
          </a:bodyPr>
          <a:lstStyle/>
          <a:p>
            <a:pPr algn="ctr"/>
            <a:r>
              <a:rPr lang="en-US" sz="1600" b="1">
                <a:solidFill>
                  <a:srgbClr val="FFFFFF"/>
                </a:solidFill>
                <a:latin typeface="Segoe UI" panose="020B0502040204020203" pitchFamily="34" charset="0"/>
              </a:rPr>
              <a:t>Nothing runs until the reviewed plan is explicitly confirmed.</a:t>
            </a:r>
          </a:p>
        </p:txBody>
      </p:sp>
    </p:spTree>
    <p:extLst>
      <p:ext uri="{BB962C8B-B14F-4D97-AF65-F5344CB8AC3E}">
        <p14:creationId xmlns:p14="http://schemas.microsoft.com/office/powerpoint/2010/main" val="3131906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75E37F-5968-B99F-1071-4370508D41F2}"/>
              </a:ext>
            </a:extLst>
          </p:cNvPr>
          <p:cNvSpPr/>
          <p:nvPr/>
        </p:nvSpPr>
        <p:spPr>
          <a:xfrm>
            <a:off x="533400" y="342900"/>
            <a:ext cx="88900" cy="88900"/>
          </a:xfrm>
          <a:prstGeom prst="rect">
            <a:avLst/>
          </a:prstGeom>
          <a:solidFill>
            <a:srgbClr val="D142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595B3F1-7C7B-8B77-DA08-EF3154EEB353}"/>
              </a:ext>
            </a:extLst>
          </p:cNvPr>
          <p:cNvSpPr/>
          <p:nvPr/>
        </p:nvSpPr>
        <p:spPr>
          <a:xfrm>
            <a:off x="647700" y="342900"/>
            <a:ext cx="88900" cy="88900"/>
          </a:xfrm>
          <a:prstGeom prst="rect">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BDDDEB9-35F7-11ED-A698-6BBA7C190D5F}"/>
              </a:ext>
            </a:extLst>
          </p:cNvPr>
          <p:cNvSpPr/>
          <p:nvPr/>
        </p:nvSpPr>
        <p:spPr>
          <a:xfrm>
            <a:off x="533400" y="457200"/>
            <a:ext cx="88900" cy="88900"/>
          </a:xfrm>
          <a:prstGeom prst="rect">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A0848BC-8240-872E-85C5-298D54440F25}"/>
              </a:ext>
            </a:extLst>
          </p:cNvPr>
          <p:cNvSpPr/>
          <p:nvPr/>
        </p:nvSpPr>
        <p:spPr>
          <a:xfrm>
            <a:off x="647700" y="457200"/>
            <a:ext cx="88900" cy="88900"/>
          </a:xfrm>
          <a:prstGeom prst="rect">
            <a:avLst/>
          </a:prstGeom>
          <a:solidFill>
            <a:srgbClr val="FFB7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6295973-C0A3-1B71-06A4-61523159F753}"/>
              </a:ext>
            </a:extLst>
          </p:cNvPr>
          <p:cNvSpPr txBox="1"/>
          <p:nvPr/>
        </p:nvSpPr>
        <p:spPr>
          <a:xfrm>
            <a:off x="863600" y="342900"/>
            <a:ext cx="1498600" cy="153888"/>
          </a:xfrm>
          <a:prstGeom prst="rect">
            <a:avLst/>
          </a:prstGeom>
          <a:noFill/>
        </p:spPr>
        <p:txBody>
          <a:bodyPr vert="horz" wrap="square" lIns="0" tIns="0" rIns="0" bIns="0" rtlCol="0" anchor="t">
            <a:spAutoFit/>
          </a:bodyPr>
          <a:lstStyle/>
          <a:p>
            <a:r>
              <a:rPr lang="en-US" sz="1000" b="1">
                <a:solidFill>
                  <a:srgbClr val="666666"/>
                </a:solidFill>
                <a:latin typeface="Segoe UI" panose="020B0502040204020203" pitchFamily="34" charset="0"/>
              </a:rPr>
              <a:t>SNOWBRIDGE</a:t>
            </a:r>
          </a:p>
        </p:txBody>
      </p:sp>
      <p:sp>
        <p:nvSpPr>
          <p:cNvPr id="7" name="TextBox 6">
            <a:extLst>
              <a:ext uri="{FF2B5EF4-FFF2-40B4-BE49-F238E27FC236}">
                <a16:creationId xmlns:a16="http://schemas.microsoft.com/office/drawing/2014/main" id="{FF9D1F66-B16C-95D2-62FB-73434261EA0E}"/>
              </a:ext>
            </a:extLst>
          </p:cNvPr>
          <p:cNvSpPr txBox="1"/>
          <p:nvPr/>
        </p:nvSpPr>
        <p:spPr>
          <a:xfrm>
            <a:off x="9525000" y="355600"/>
            <a:ext cx="2095500" cy="138499"/>
          </a:xfrm>
          <a:prstGeom prst="rect">
            <a:avLst/>
          </a:prstGeom>
          <a:noFill/>
        </p:spPr>
        <p:txBody>
          <a:bodyPr vert="horz" wrap="square" lIns="0" tIns="0" rIns="0" bIns="0" rtlCol="0" anchor="t">
            <a:spAutoFit/>
          </a:bodyPr>
          <a:lstStyle/>
          <a:p>
            <a:pPr algn="r"/>
            <a:r>
              <a:rPr lang="en-US" sz="900" b="1">
                <a:solidFill>
                  <a:srgbClr val="0078D4"/>
                </a:solidFill>
                <a:latin typeface="Segoe UI" panose="020B0502040204020203" pitchFamily="34" charset="0"/>
              </a:rPr>
              <a:t>PRODUCT EXPERIENCE</a:t>
            </a:r>
          </a:p>
        </p:txBody>
      </p:sp>
      <p:sp>
        <p:nvSpPr>
          <p:cNvPr id="8" name="TextBox 7">
            <a:extLst>
              <a:ext uri="{FF2B5EF4-FFF2-40B4-BE49-F238E27FC236}">
                <a16:creationId xmlns:a16="http://schemas.microsoft.com/office/drawing/2014/main" id="{D891D53E-DE1E-E562-0EE7-336706706760}"/>
              </a:ext>
            </a:extLst>
          </p:cNvPr>
          <p:cNvSpPr txBox="1"/>
          <p:nvPr/>
        </p:nvSpPr>
        <p:spPr>
          <a:xfrm>
            <a:off x="533400" y="825500"/>
            <a:ext cx="10922000" cy="430887"/>
          </a:xfrm>
          <a:prstGeom prst="rect">
            <a:avLst/>
          </a:prstGeom>
          <a:noFill/>
        </p:spPr>
        <p:txBody>
          <a:bodyPr vert="horz" wrap="square" lIns="0" tIns="0" rIns="0" bIns="0" rtlCol="0" anchor="t">
            <a:spAutoFit/>
          </a:bodyPr>
          <a:lstStyle/>
          <a:p>
            <a:r>
              <a:rPr lang="en-US" sz="2800" b="1">
                <a:solidFill>
                  <a:srgbClr val="101A2B"/>
                </a:solidFill>
                <a:latin typeface="Segoe UI" panose="020B0502040204020203" pitchFamily="34" charset="0"/>
              </a:rPr>
              <a:t>The approval boundary is visible to the user</a:t>
            </a:r>
          </a:p>
        </p:txBody>
      </p:sp>
      <p:sp>
        <p:nvSpPr>
          <p:cNvPr id="9" name="TextBox 8">
            <a:extLst>
              <a:ext uri="{FF2B5EF4-FFF2-40B4-BE49-F238E27FC236}">
                <a16:creationId xmlns:a16="http://schemas.microsoft.com/office/drawing/2014/main" id="{D7A4716D-11AA-47B7-4552-F5B21739E6EC}"/>
              </a:ext>
            </a:extLst>
          </p:cNvPr>
          <p:cNvSpPr txBox="1"/>
          <p:nvPr/>
        </p:nvSpPr>
        <p:spPr>
          <a:xfrm>
            <a:off x="11430000" y="6248400"/>
            <a:ext cx="330200" cy="138499"/>
          </a:xfrm>
          <a:prstGeom prst="rect">
            <a:avLst/>
          </a:prstGeom>
          <a:noFill/>
        </p:spPr>
        <p:txBody>
          <a:bodyPr vert="horz" wrap="square" lIns="0" tIns="0" rIns="0" bIns="0" rtlCol="0" anchor="t">
            <a:spAutoFit/>
          </a:bodyPr>
          <a:lstStyle/>
          <a:p>
            <a:pPr algn="r"/>
            <a:r>
              <a:rPr lang="en-US" sz="900">
                <a:solidFill>
                  <a:srgbClr val="666666"/>
                </a:solidFill>
                <a:latin typeface="Segoe UI" panose="020B0502040204020203" pitchFamily="34" charset="0"/>
              </a:rPr>
              <a:t>05</a:t>
            </a:r>
          </a:p>
        </p:txBody>
      </p:sp>
      <p:sp>
        <p:nvSpPr>
          <p:cNvPr id="10" name="Rectangle: Rounded Corners 9">
            <a:extLst>
              <a:ext uri="{FF2B5EF4-FFF2-40B4-BE49-F238E27FC236}">
                <a16:creationId xmlns:a16="http://schemas.microsoft.com/office/drawing/2014/main" id="{7DF2F005-05B2-0D9F-16D8-744C8AFA75C4}"/>
              </a:ext>
            </a:extLst>
          </p:cNvPr>
          <p:cNvSpPr/>
          <p:nvPr/>
        </p:nvSpPr>
        <p:spPr>
          <a:xfrm>
            <a:off x="457200" y="1574800"/>
            <a:ext cx="7747000" cy="4902200"/>
          </a:xfrm>
          <a:prstGeom prst="roundRect">
            <a:avLst/>
          </a:prstGeom>
          <a:solidFill>
            <a:srgbClr val="FFFFFF"/>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6757220B-9BE7-0B77-1CEF-D53FFF688DD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3400" y="1651000"/>
            <a:ext cx="7594600" cy="4749800"/>
          </a:xfrm>
          <a:prstGeom prst="rect">
            <a:avLst/>
          </a:prstGeom>
        </p:spPr>
      </p:pic>
      <p:sp>
        <p:nvSpPr>
          <p:cNvPr id="13" name="Rectangle: Rounded Corners 12">
            <a:extLst>
              <a:ext uri="{FF2B5EF4-FFF2-40B4-BE49-F238E27FC236}">
                <a16:creationId xmlns:a16="http://schemas.microsoft.com/office/drawing/2014/main" id="{F3CD52AA-2B3E-1F98-277A-2884E90DE490}"/>
              </a:ext>
            </a:extLst>
          </p:cNvPr>
          <p:cNvSpPr/>
          <p:nvPr/>
        </p:nvSpPr>
        <p:spPr>
          <a:xfrm>
            <a:off x="8648700" y="1803400"/>
            <a:ext cx="2667000" cy="330200"/>
          </a:xfrm>
          <a:prstGeom prst="roundRect">
            <a:avLst/>
          </a:prstGeom>
          <a:solidFill>
            <a:srgbClr val="DFEEFC"/>
          </a:solidFill>
          <a:ln w="12700">
            <a:solidFill>
              <a:srgbClr val="DFEE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78A00E6-397F-AB8E-3069-F55DDFC90237}"/>
              </a:ext>
            </a:extLst>
          </p:cNvPr>
          <p:cNvSpPr txBox="1"/>
          <p:nvPr/>
        </p:nvSpPr>
        <p:spPr>
          <a:xfrm>
            <a:off x="8648700" y="1866900"/>
            <a:ext cx="2667000" cy="153888"/>
          </a:xfrm>
          <a:prstGeom prst="rect">
            <a:avLst/>
          </a:prstGeom>
          <a:noFill/>
        </p:spPr>
        <p:txBody>
          <a:bodyPr vert="horz" wrap="square" lIns="0" tIns="0" rIns="0" bIns="0" rtlCol="0" anchor="t">
            <a:spAutoFit/>
          </a:bodyPr>
          <a:lstStyle/>
          <a:p>
            <a:pPr algn="ctr"/>
            <a:r>
              <a:rPr lang="en-US" sz="1000" b="1">
                <a:solidFill>
                  <a:srgbClr val="005B9A"/>
                </a:solidFill>
                <a:latin typeface="Segoe UI" panose="020B0502040204020203" pitchFamily="34" charset="0"/>
              </a:rPr>
              <a:t>1  PLAIN LANGUAGE</a:t>
            </a:r>
          </a:p>
        </p:txBody>
      </p:sp>
      <p:sp>
        <p:nvSpPr>
          <p:cNvPr id="15" name="TextBox 14">
            <a:extLst>
              <a:ext uri="{FF2B5EF4-FFF2-40B4-BE49-F238E27FC236}">
                <a16:creationId xmlns:a16="http://schemas.microsoft.com/office/drawing/2014/main" id="{4ABCA22C-A48A-31AC-F176-320925F2EEA9}"/>
              </a:ext>
            </a:extLst>
          </p:cNvPr>
          <p:cNvSpPr txBox="1"/>
          <p:nvPr/>
        </p:nvSpPr>
        <p:spPr>
          <a:xfrm>
            <a:off x="8648700" y="2286000"/>
            <a:ext cx="2667000" cy="430887"/>
          </a:xfrm>
          <a:prstGeom prst="rect">
            <a:avLst/>
          </a:prstGeom>
          <a:noFill/>
        </p:spPr>
        <p:txBody>
          <a:bodyPr vert="horz" wrap="square" lIns="0" tIns="0" rIns="0" bIns="0" rtlCol="0" anchor="t">
            <a:spAutoFit/>
          </a:bodyPr>
          <a:lstStyle/>
          <a:p>
            <a:r>
              <a:rPr lang="en-US" sz="1400">
                <a:solidFill>
                  <a:srgbClr val="262626"/>
                </a:solidFill>
                <a:latin typeface="Segoe UI" panose="020B0502040204020203" pitchFamily="34" charset="0"/>
              </a:rPr>
              <a:t>The user asks a business question without writing SQL.</a:t>
            </a:r>
          </a:p>
        </p:txBody>
      </p:sp>
      <p:sp>
        <p:nvSpPr>
          <p:cNvPr id="16" name="Rectangle: Rounded Corners 15">
            <a:extLst>
              <a:ext uri="{FF2B5EF4-FFF2-40B4-BE49-F238E27FC236}">
                <a16:creationId xmlns:a16="http://schemas.microsoft.com/office/drawing/2014/main" id="{F6967F62-B1DC-6664-7DBE-1AAA4F2AEAF9}"/>
              </a:ext>
            </a:extLst>
          </p:cNvPr>
          <p:cNvSpPr/>
          <p:nvPr/>
        </p:nvSpPr>
        <p:spPr>
          <a:xfrm>
            <a:off x="8648700" y="3276600"/>
            <a:ext cx="2667000" cy="330200"/>
          </a:xfrm>
          <a:prstGeom prst="roundRect">
            <a:avLst/>
          </a:prstGeom>
          <a:solidFill>
            <a:srgbClr val="1A0000"/>
          </a:solidFill>
          <a:ln w="12700">
            <a:solidFill>
              <a:srgbClr val="1A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239B3AF-7B80-778E-ED07-D902C3BA30F7}"/>
              </a:ext>
            </a:extLst>
          </p:cNvPr>
          <p:cNvSpPr txBox="1"/>
          <p:nvPr/>
        </p:nvSpPr>
        <p:spPr>
          <a:xfrm>
            <a:off x="8648700" y="3340100"/>
            <a:ext cx="2667000" cy="153888"/>
          </a:xfrm>
          <a:prstGeom prst="rect">
            <a:avLst/>
          </a:prstGeom>
          <a:noFill/>
        </p:spPr>
        <p:txBody>
          <a:bodyPr vert="horz" wrap="square" lIns="0" tIns="0" rIns="0" bIns="0" rtlCol="0" anchor="t">
            <a:spAutoFit/>
          </a:bodyPr>
          <a:lstStyle/>
          <a:p>
            <a:pPr algn="ctr"/>
            <a:r>
              <a:rPr lang="en-US" sz="1000" b="1">
                <a:solidFill>
                  <a:srgbClr val="DFEEFC"/>
                </a:solidFill>
                <a:latin typeface="Segoe UI" panose="020B0502040204020203" pitchFamily="34" charset="0"/>
              </a:rPr>
              <a:t>2  REVIEW</a:t>
            </a:r>
          </a:p>
        </p:txBody>
      </p:sp>
      <p:sp>
        <p:nvSpPr>
          <p:cNvPr id="18" name="TextBox 17">
            <a:extLst>
              <a:ext uri="{FF2B5EF4-FFF2-40B4-BE49-F238E27FC236}">
                <a16:creationId xmlns:a16="http://schemas.microsoft.com/office/drawing/2014/main" id="{80D8B705-954F-E74B-8B0D-3A4770D65B49}"/>
              </a:ext>
            </a:extLst>
          </p:cNvPr>
          <p:cNvSpPr txBox="1"/>
          <p:nvPr/>
        </p:nvSpPr>
        <p:spPr>
          <a:xfrm>
            <a:off x="8648700" y="3759200"/>
            <a:ext cx="2667000" cy="646331"/>
          </a:xfrm>
          <a:prstGeom prst="rect">
            <a:avLst/>
          </a:prstGeom>
          <a:noFill/>
        </p:spPr>
        <p:txBody>
          <a:bodyPr vert="horz" wrap="square" lIns="0" tIns="0" rIns="0" bIns="0" rtlCol="0" anchor="t">
            <a:spAutoFit/>
          </a:bodyPr>
          <a:lstStyle/>
          <a:p>
            <a:r>
              <a:rPr lang="en-US" sz="1400">
                <a:solidFill>
                  <a:srgbClr val="262626"/>
                </a:solidFill>
                <a:latin typeface="Segoe UI" panose="020B0502040204020203" pitchFamily="34" charset="0"/>
              </a:rPr>
              <a:t>The approved operation and parameters are shown before execution.</a:t>
            </a:r>
          </a:p>
        </p:txBody>
      </p:sp>
      <p:sp>
        <p:nvSpPr>
          <p:cNvPr id="19" name="Rectangle: Rounded Corners 18">
            <a:extLst>
              <a:ext uri="{FF2B5EF4-FFF2-40B4-BE49-F238E27FC236}">
                <a16:creationId xmlns:a16="http://schemas.microsoft.com/office/drawing/2014/main" id="{A58CC4D8-5E02-A187-812D-D6FF08FB39A1}"/>
              </a:ext>
            </a:extLst>
          </p:cNvPr>
          <p:cNvSpPr/>
          <p:nvPr/>
        </p:nvSpPr>
        <p:spPr>
          <a:xfrm>
            <a:off x="8648700" y="4927600"/>
            <a:ext cx="2667000" cy="330200"/>
          </a:xfrm>
          <a:prstGeom prst="roundRect">
            <a:avLst/>
          </a:prstGeom>
          <a:solidFill>
            <a:srgbClr val="1A0000"/>
          </a:solidFill>
          <a:ln w="12700">
            <a:solidFill>
              <a:srgbClr val="1A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95BA656-4F8B-63C8-2124-99415D137AAD}"/>
              </a:ext>
            </a:extLst>
          </p:cNvPr>
          <p:cNvSpPr txBox="1"/>
          <p:nvPr/>
        </p:nvSpPr>
        <p:spPr>
          <a:xfrm>
            <a:off x="8648700" y="4991100"/>
            <a:ext cx="2667000" cy="153888"/>
          </a:xfrm>
          <a:prstGeom prst="rect">
            <a:avLst/>
          </a:prstGeom>
          <a:noFill/>
        </p:spPr>
        <p:txBody>
          <a:bodyPr vert="horz" wrap="square" lIns="0" tIns="0" rIns="0" bIns="0" rtlCol="0" anchor="t">
            <a:spAutoFit/>
          </a:bodyPr>
          <a:lstStyle/>
          <a:p>
            <a:pPr algn="ctr"/>
            <a:r>
              <a:rPr lang="en-US" sz="1000" b="1">
                <a:solidFill>
                  <a:srgbClr val="DFEEFC"/>
                </a:solidFill>
                <a:latin typeface="Segoe UI" panose="020B0502040204020203" pitchFamily="34" charset="0"/>
              </a:rPr>
              <a:t>3  APPROVE</a:t>
            </a:r>
          </a:p>
        </p:txBody>
      </p:sp>
      <p:sp>
        <p:nvSpPr>
          <p:cNvPr id="21" name="TextBox 20">
            <a:extLst>
              <a:ext uri="{FF2B5EF4-FFF2-40B4-BE49-F238E27FC236}">
                <a16:creationId xmlns:a16="http://schemas.microsoft.com/office/drawing/2014/main" id="{194610AB-0EF9-6086-DA0F-3C57DBE02A86}"/>
              </a:ext>
            </a:extLst>
          </p:cNvPr>
          <p:cNvSpPr txBox="1"/>
          <p:nvPr/>
        </p:nvSpPr>
        <p:spPr>
          <a:xfrm>
            <a:off x="8648700" y="5410200"/>
            <a:ext cx="2667000" cy="430887"/>
          </a:xfrm>
          <a:prstGeom prst="rect">
            <a:avLst/>
          </a:prstGeom>
          <a:noFill/>
        </p:spPr>
        <p:txBody>
          <a:bodyPr vert="horz" wrap="square" lIns="0" tIns="0" rIns="0" bIns="0" rtlCol="0" anchor="t">
            <a:spAutoFit/>
          </a:bodyPr>
          <a:lstStyle/>
          <a:p>
            <a:r>
              <a:rPr lang="en-US" sz="1400">
                <a:solidFill>
                  <a:srgbClr val="262626"/>
                </a:solidFill>
                <a:latin typeface="Segoe UI" panose="020B0502040204020203" pitchFamily="34" charset="0"/>
              </a:rPr>
              <a:t>A deliberate action supplies the confirmation required by the API.</a:t>
            </a:r>
          </a:p>
        </p:txBody>
      </p:sp>
    </p:spTree>
    <p:extLst>
      <p:ext uri="{BB962C8B-B14F-4D97-AF65-F5344CB8AC3E}">
        <p14:creationId xmlns:p14="http://schemas.microsoft.com/office/powerpoint/2010/main" val="1374663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9778F2-B5DD-0A3B-E50C-C9033CA58A6F}"/>
              </a:ext>
            </a:extLst>
          </p:cNvPr>
          <p:cNvSpPr/>
          <p:nvPr/>
        </p:nvSpPr>
        <p:spPr>
          <a:xfrm>
            <a:off x="533400" y="342900"/>
            <a:ext cx="88900" cy="88900"/>
          </a:xfrm>
          <a:prstGeom prst="rect">
            <a:avLst/>
          </a:prstGeom>
          <a:solidFill>
            <a:srgbClr val="D142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E986A9C-AC51-896F-74BC-4B72A42703C3}"/>
              </a:ext>
            </a:extLst>
          </p:cNvPr>
          <p:cNvSpPr/>
          <p:nvPr/>
        </p:nvSpPr>
        <p:spPr>
          <a:xfrm>
            <a:off x="647700" y="342900"/>
            <a:ext cx="88900" cy="88900"/>
          </a:xfrm>
          <a:prstGeom prst="rect">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05C1D64-EF1E-6E85-69FE-8D4D4E166916}"/>
              </a:ext>
            </a:extLst>
          </p:cNvPr>
          <p:cNvSpPr/>
          <p:nvPr/>
        </p:nvSpPr>
        <p:spPr>
          <a:xfrm>
            <a:off x="533400" y="457200"/>
            <a:ext cx="88900" cy="88900"/>
          </a:xfrm>
          <a:prstGeom prst="rect">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024FFAE-D3C5-5F67-2322-F12E26F7497E}"/>
              </a:ext>
            </a:extLst>
          </p:cNvPr>
          <p:cNvSpPr/>
          <p:nvPr/>
        </p:nvSpPr>
        <p:spPr>
          <a:xfrm>
            <a:off x="647700" y="457200"/>
            <a:ext cx="88900" cy="88900"/>
          </a:xfrm>
          <a:prstGeom prst="rect">
            <a:avLst/>
          </a:prstGeom>
          <a:solidFill>
            <a:srgbClr val="FFB7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B8A32E8-653E-43CF-6DE0-11D79021AA0D}"/>
              </a:ext>
            </a:extLst>
          </p:cNvPr>
          <p:cNvSpPr txBox="1"/>
          <p:nvPr/>
        </p:nvSpPr>
        <p:spPr>
          <a:xfrm>
            <a:off x="863600" y="342900"/>
            <a:ext cx="1498600" cy="153888"/>
          </a:xfrm>
          <a:prstGeom prst="rect">
            <a:avLst/>
          </a:prstGeom>
          <a:noFill/>
        </p:spPr>
        <p:txBody>
          <a:bodyPr vert="horz" wrap="square" lIns="0" tIns="0" rIns="0" bIns="0" rtlCol="0" anchor="t">
            <a:spAutoFit/>
          </a:bodyPr>
          <a:lstStyle/>
          <a:p>
            <a:r>
              <a:rPr lang="en-US" sz="1000" b="1">
                <a:solidFill>
                  <a:srgbClr val="666666"/>
                </a:solidFill>
                <a:latin typeface="Segoe UI" panose="020B0502040204020203" pitchFamily="34" charset="0"/>
              </a:rPr>
              <a:t>SNOWBRIDGE</a:t>
            </a:r>
          </a:p>
        </p:txBody>
      </p:sp>
      <p:sp>
        <p:nvSpPr>
          <p:cNvPr id="7" name="TextBox 6">
            <a:extLst>
              <a:ext uri="{FF2B5EF4-FFF2-40B4-BE49-F238E27FC236}">
                <a16:creationId xmlns:a16="http://schemas.microsoft.com/office/drawing/2014/main" id="{A887AFF3-F5BC-A3FC-F0B8-08ED4A2F700B}"/>
              </a:ext>
            </a:extLst>
          </p:cNvPr>
          <p:cNvSpPr txBox="1"/>
          <p:nvPr/>
        </p:nvSpPr>
        <p:spPr>
          <a:xfrm>
            <a:off x="9525000" y="355600"/>
            <a:ext cx="2095500" cy="138499"/>
          </a:xfrm>
          <a:prstGeom prst="rect">
            <a:avLst/>
          </a:prstGeom>
          <a:noFill/>
        </p:spPr>
        <p:txBody>
          <a:bodyPr vert="horz" wrap="square" lIns="0" tIns="0" rIns="0" bIns="0" rtlCol="0" anchor="t">
            <a:spAutoFit/>
          </a:bodyPr>
          <a:lstStyle/>
          <a:p>
            <a:pPr algn="r"/>
            <a:r>
              <a:rPr lang="en-US" sz="900" b="1">
                <a:solidFill>
                  <a:srgbClr val="0078D4"/>
                </a:solidFill>
                <a:latin typeface="Segoe UI" panose="020B0502040204020203" pitchFamily="34" charset="0"/>
              </a:rPr>
              <a:t>ARCHITECTURE</a:t>
            </a:r>
          </a:p>
        </p:txBody>
      </p:sp>
      <p:sp>
        <p:nvSpPr>
          <p:cNvPr id="8" name="TextBox 7">
            <a:extLst>
              <a:ext uri="{FF2B5EF4-FFF2-40B4-BE49-F238E27FC236}">
                <a16:creationId xmlns:a16="http://schemas.microsoft.com/office/drawing/2014/main" id="{788FA2D7-E8E7-CAF0-E91F-23DB078F622A}"/>
              </a:ext>
            </a:extLst>
          </p:cNvPr>
          <p:cNvSpPr txBox="1"/>
          <p:nvPr/>
        </p:nvSpPr>
        <p:spPr>
          <a:xfrm>
            <a:off x="533400" y="825500"/>
            <a:ext cx="10922000" cy="430887"/>
          </a:xfrm>
          <a:prstGeom prst="rect">
            <a:avLst/>
          </a:prstGeom>
          <a:noFill/>
        </p:spPr>
        <p:txBody>
          <a:bodyPr vert="horz" wrap="square" lIns="0" tIns="0" rIns="0" bIns="0" rtlCol="0" anchor="t">
            <a:spAutoFit/>
          </a:bodyPr>
          <a:lstStyle/>
          <a:p>
            <a:r>
              <a:rPr lang="en-US" sz="2800" b="1">
                <a:solidFill>
                  <a:srgbClr val="101A2B"/>
                </a:solidFill>
                <a:latin typeface="Segoe UI" panose="020B0502040204020203" pitchFamily="34" charset="0"/>
              </a:rPr>
              <a:t>A compact Azure foundation with clear trust boundaries</a:t>
            </a:r>
          </a:p>
        </p:txBody>
      </p:sp>
      <p:sp>
        <p:nvSpPr>
          <p:cNvPr id="9" name="TextBox 8">
            <a:extLst>
              <a:ext uri="{FF2B5EF4-FFF2-40B4-BE49-F238E27FC236}">
                <a16:creationId xmlns:a16="http://schemas.microsoft.com/office/drawing/2014/main" id="{291444C4-273A-281A-73F6-8089E3041FF9}"/>
              </a:ext>
            </a:extLst>
          </p:cNvPr>
          <p:cNvSpPr txBox="1"/>
          <p:nvPr/>
        </p:nvSpPr>
        <p:spPr>
          <a:xfrm>
            <a:off x="11430000" y="6248400"/>
            <a:ext cx="330200" cy="138499"/>
          </a:xfrm>
          <a:prstGeom prst="rect">
            <a:avLst/>
          </a:prstGeom>
          <a:noFill/>
        </p:spPr>
        <p:txBody>
          <a:bodyPr vert="horz" wrap="square" lIns="0" tIns="0" rIns="0" bIns="0" rtlCol="0" anchor="t">
            <a:spAutoFit/>
          </a:bodyPr>
          <a:lstStyle/>
          <a:p>
            <a:pPr algn="r"/>
            <a:r>
              <a:rPr lang="en-US" sz="900">
                <a:solidFill>
                  <a:srgbClr val="666666"/>
                </a:solidFill>
                <a:latin typeface="Segoe UI" panose="020B0502040204020203" pitchFamily="34" charset="0"/>
              </a:rPr>
              <a:t>06</a:t>
            </a:r>
          </a:p>
        </p:txBody>
      </p:sp>
      <p:sp>
        <p:nvSpPr>
          <p:cNvPr id="10" name="Rectangle: Rounded Corners 9">
            <a:extLst>
              <a:ext uri="{FF2B5EF4-FFF2-40B4-BE49-F238E27FC236}">
                <a16:creationId xmlns:a16="http://schemas.microsoft.com/office/drawing/2014/main" id="{C11546DA-F6CC-732D-3B20-FA71B752EBAF}"/>
              </a:ext>
            </a:extLst>
          </p:cNvPr>
          <p:cNvSpPr/>
          <p:nvPr/>
        </p:nvSpPr>
        <p:spPr>
          <a:xfrm>
            <a:off x="533400" y="2349500"/>
            <a:ext cx="1905000" cy="1041400"/>
          </a:xfrm>
          <a:prstGeom prst="roundRect">
            <a:avLst/>
          </a:prstGeom>
          <a:solidFill>
            <a:srgbClr val="FFFFFF"/>
          </a:solidFill>
          <a:ln w="25400">
            <a:solidFill>
              <a:srgbClr val="0078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C752A43-77D3-CDBA-20A5-71655E075497}"/>
              </a:ext>
            </a:extLst>
          </p:cNvPr>
          <p:cNvSpPr txBox="1"/>
          <p:nvPr/>
        </p:nvSpPr>
        <p:spPr>
          <a:xfrm>
            <a:off x="685800" y="2527300"/>
            <a:ext cx="1600200" cy="246221"/>
          </a:xfrm>
          <a:prstGeom prst="rect">
            <a:avLst/>
          </a:prstGeom>
          <a:noFill/>
        </p:spPr>
        <p:txBody>
          <a:bodyPr vert="horz" wrap="square" lIns="0" tIns="0" rIns="0" bIns="0" rtlCol="0" anchor="t">
            <a:spAutoFit/>
          </a:bodyPr>
          <a:lstStyle/>
          <a:p>
            <a:pPr algn="ctr"/>
            <a:r>
              <a:rPr lang="en-US" sz="1600" b="1">
                <a:solidFill>
                  <a:srgbClr val="101A2B"/>
                </a:solidFill>
                <a:latin typeface="Segoe UI" panose="020B0502040204020203" pitchFamily="34" charset="0"/>
              </a:rPr>
              <a:t>Business UI</a:t>
            </a:r>
          </a:p>
        </p:txBody>
      </p:sp>
      <p:sp>
        <p:nvSpPr>
          <p:cNvPr id="12" name="TextBox 11">
            <a:extLst>
              <a:ext uri="{FF2B5EF4-FFF2-40B4-BE49-F238E27FC236}">
                <a16:creationId xmlns:a16="http://schemas.microsoft.com/office/drawing/2014/main" id="{8D302BA4-80F9-7ECD-0B7B-E39510EDC0CE}"/>
              </a:ext>
            </a:extLst>
          </p:cNvPr>
          <p:cNvSpPr txBox="1"/>
          <p:nvPr/>
        </p:nvSpPr>
        <p:spPr>
          <a:xfrm>
            <a:off x="685800" y="2946400"/>
            <a:ext cx="1600200" cy="338554"/>
          </a:xfrm>
          <a:prstGeom prst="rect">
            <a:avLst/>
          </a:prstGeom>
          <a:noFill/>
        </p:spPr>
        <p:txBody>
          <a:bodyPr vert="horz" wrap="square" lIns="0" tIns="0" rIns="0" bIns="0" rtlCol="0" anchor="t">
            <a:spAutoFit/>
          </a:bodyPr>
          <a:lstStyle/>
          <a:p>
            <a:pPr algn="ctr"/>
            <a:r>
              <a:rPr lang="en-US" sz="1100">
                <a:solidFill>
                  <a:srgbClr val="666666"/>
                </a:solidFill>
                <a:latin typeface="Segoe UI" panose="020B0502040204020203" pitchFamily="34" charset="0"/>
              </a:rPr>
              <a:t>Same-origin web experience</a:t>
            </a:r>
          </a:p>
        </p:txBody>
      </p:sp>
      <p:sp>
        <p:nvSpPr>
          <p:cNvPr id="13" name="Rectangle: Rounded Corners 12">
            <a:extLst>
              <a:ext uri="{FF2B5EF4-FFF2-40B4-BE49-F238E27FC236}">
                <a16:creationId xmlns:a16="http://schemas.microsoft.com/office/drawing/2014/main" id="{E361663F-15EE-BD2D-5DB7-7DC7CF21455E}"/>
              </a:ext>
            </a:extLst>
          </p:cNvPr>
          <p:cNvSpPr/>
          <p:nvPr/>
        </p:nvSpPr>
        <p:spPr>
          <a:xfrm>
            <a:off x="2984500" y="2095500"/>
            <a:ext cx="2413000" cy="1549400"/>
          </a:xfrm>
          <a:prstGeom prst="roundRect">
            <a:avLst/>
          </a:prstGeom>
          <a:solidFill>
            <a:srgbClr val="101A2B"/>
          </a:solidFill>
          <a:ln w="25400">
            <a:solidFill>
              <a:srgbClr val="101A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37E315E-97FF-8EA1-386C-1A31260EBC65}"/>
              </a:ext>
            </a:extLst>
          </p:cNvPr>
          <p:cNvSpPr txBox="1"/>
          <p:nvPr/>
        </p:nvSpPr>
        <p:spPr>
          <a:xfrm>
            <a:off x="3136900" y="2273300"/>
            <a:ext cx="2108200" cy="246221"/>
          </a:xfrm>
          <a:prstGeom prst="rect">
            <a:avLst/>
          </a:prstGeom>
          <a:noFill/>
        </p:spPr>
        <p:txBody>
          <a:bodyPr vert="horz" wrap="square" lIns="0" tIns="0" rIns="0" bIns="0" rtlCol="0" anchor="t">
            <a:spAutoFit/>
          </a:bodyPr>
          <a:lstStyle/>
          <a:p>
            <a:pPr algn="ctr"/>
            <a:r>
              <a:rPr lang="en-US" sz="1600" b="1">
                <a:solidFill>
                  <a:srgbClr val="FFFFFF"/>
                </a:solidFill>
                <a:latin typeface="Segoe UI" panose="020B0502040204020203" pitchFamily="34" charset="0"/>
              </a:rPr>
              <a:t>Azure Container Apps</a:t>
            </a:r>
          </a:p>
        </p:txBody>
      </p:sp>
      <p:sp>
        <p:nvSpPr>
          <p:cNvPr id="15" name="TextBox 14">
            <a:extLst>
              <a:ext uri="{FF2B5EF4-FFF2-40B4-BE49-F238E27FC236}">
                <a16:creationId xmlns:a16="http://schemas.microsoft.com/office/drawing/2014/main" id="{B6103CF4-A131-3378-B9D8-2850C3DD959B}"/>
              </a:ext>
            </a:extLst>
          </p:cNvPr>
          <p:cNvSpPr txBox="1"/>
          <p:nvPr/>
        </p:nvSpPr>
        <p:spPr>
          <a:xfrm>
            <a:off x="3136900" y="2692400"/>
            <a:ext cx="2108200" cy="169277"/>
          </a:xfrm>
          <a:prstGeom prst="rect">
            <a:avLst/>
          </a:prstGeom>
          <a:noFill/>
        </p:spPr>
        <p:txBody>
          <a:bodyPr vert="horz" wrap="square" lIns="0" tIns="0" rIns="0" bIns="0" rtlCol="0" anchor="t">
            <a:spAutoFit/>
          </a:bodyPr>
          <a:lstStyle/>
          <a:p>
            <a:pPr algn="ctr"/>
            <a:r>
              <a:rPr lang="en-US" sz="1100">
                <a:solidFill>
                  <a:srgbClr val="D6E9F8"/>
                </a:solidFill>
                <a:latin typeface="Segoe UI" panose="020B0502040204020203" pitchFamily="34" charset="0"/>
              </a:rPr>
              <a:t>FastAPI + governed execution</a:t>
            </a:r>
          </a:p>
        </p:txBody>
      </p:sp>
      <p:sp>
        <p:nvSpPr>
          <p:cNvPr id="16" name="Rectangle: Rounded Corners 15">
            <a:extLst>
              <a:ext uri="{FF2B5EF4-FFF2-40B4-BE49-F238E27FC236}">
                <a16:creationId xmlns:a16="http://schemas.microsoft.com/office/drawing/2014/main" id="{CD8CB3FC-14C6-30C4-1ADB-D777A789E4B6}"/>
              </a:ext>
            </a:extLst>
          </p:cNvPr>
          <p:cNvSpPr/>
          <p:nvPr/>
        </p:nvSpPr>
        <p:spPr>
          <a:xfrm>
            <a:off x="6159500" y="1524000"/>
            <a:ext cx="2413000" cy="1066800"/>
          </a:xfrm>
          <a:prstGeom prst="roundRect">
            <a:avLst/>
          </a:prstGeom>
          <a:solidFill>
            <a:srgbClr val="FFFFFF"/>
          </a:solidFill>
          <a:ln w="25400">
            <a:solidFill>
              <a:srgbClr val="F275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7B152E7-7FFC-8BE9-0345-A25DC6C40ACC}"/>
              </a:ext>
            </a:extLst>
          </p:cNvPr>
          <p:cNvSpPr txBox="1"/>
          <p:nvPr/>
        </p:nvSpPr>
        <p:spPr>
          <a:xfrm>
            <a:off x="6311900" y="1701800"/>
            <a:ext cx="2108200" cy="246221"/>
          </a:xfrm>
          <a:prstGeom prst="rect">
            <a:avLst/>
          </a:prstGeom>
          <a:noFill/>
        </p:spPr>
        <p:txBody>
          <a:bodyPr vert="horz" wrap="square" lIns="0" tIns="0" rIns="0" bIns="0" rtlCol="0" anchor="t">
            <a:spAutoFit/>
          </a:bodyPr>
          <a:lstStyle/>
          <a:p>
            <a:pPr algn="ctr"/>
            <a:r>
              <a:rPr lang="en-US" sz="1600" b="1">
                <a:solidFill>
                  <a:srgbClr val="101A2B"/>
                </a:solidFill>
                <a:latin typeface="Segoe UI" panose="020B0502040204020203" pitchFamily="34" charset="0"/>
              </a:rPr>
              <a:t>Microsoft Foundry</a:t>
            </a:r>
          </a:p>
        </p:txBody>
      </p:sp>
      <p:sp>
        <p:nvSpPr>
          <p:cNvPr id="18" name="TextBox 17">
            <a:extLst>
              <a:ext uri="{FF2B5EF4-FFF2-40B4-BE49-F238E27FC236}">
                <a16:creationId xmlns:a16="http://schemas.microsoft.com/office/drawing/2014/main" id="{239EF7E4-D0F0-A3A0-3580-D0BCA2333F99}"/>
              </a:ext>
            </a:extLst>
          </p:cNvPr>
          <p:cNvSpPr txBox="1"/>
          <p:nvPr/>
        </p:nvSpPr>
        <p:spPr>
          <a:xfrm>
            <a:off x="6311900" y="2120900"/>
            <a:ext cx="2108200" cy="169277"/>
          </a:xfrm>
          <a:prstGeom prst="rect">
            <a:avLst/>
          </a:prstGeom>
          <a:noFill/>
        </p:spPr>
        <p:txBody>
          <a:bodyPr vert="horz" wrap="square" lIns="0" tIns="0" rIns="0" bIns="0" rtlCol="0" anchor="t">
            <a:spAutoFit/>
          </a:bodyPr>
          <a:lstStyle/>
          <a:p>
            <a:pPr algn="ctr"/>
            <a:r>
              <a:rPr lang="en-US" sz="1100">
                <a:solidFill>
                  <a:srgbClr val="666666"/>
                </a:solidFill>
                <a:latin typeface="Segoe UI" panose="020B0502040204020203" pitchFamily="34" charset="0"/>
              </a:rPr>
              <a:t>Intent → structured plan</a:t>
            </a:r>
          </a:p>
        </p:txBody>
      </p:sp>
      <p:sp>
        <p:nvSpPr>
          <p:cNvPr id="19" name="Rectangle: Rounded Corners 18">
            <a:extLst>
              <a:ext uri="{FF2B5EF4-FFF2-40B4-BE49-F238E27FC236}">
                <a16:creationId xmlns:a16="http://schemas.microsoft.com/office/drawing/2014/main" id="{249B96BD-FD83-A7C4-0EE4-115160D064DC}"/>
              </a:ext>
            </a:extLst>
          </p:cNvPr>
          <p:cNvSpPr/>
          <p:nvPr/>
        </p:nvSpPr>
        <p:spPr>
          <a:xfrm>
            <a:off x="6159500" y="3175000"/>
            <a:ext cx="2413000" cy="1066800"/>
          </a:xfrm>
          <a:prstGeom prst="roundRect">
            <a:avLst/>
          </a:prstGeom>
          <a:solidFill>
            <a:srgbClr val="FFFFFF"/>
          </a:solidFill>
          <a:ln w="25400">
            <a:solidFill>
              <a:srgbClr val="107C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A257CAC-6F30-449A-B987-C13EC606C9AD}"/>
              </a:ext>
            </a:extLst>
          </p:cNvPr>
          <p:cNvSpPr txBox="1"/>
          <p:nvPr/>
        </p:nvSpPr>
        <p:spPr>
          <a:xfrm>
            <a:off x="6311900" y="3352800"/>
            <a:ext cx="2108200" cy="246221"/>
          </a:xfrm>
          <a:prstGeom prst="rect">
            <a:avLst/>
          </a:prstGeom>
          <a:noFill/>
        </p:spPr>
        <p:txBody>
          <a:bodyPr vert="horz" wrap="square" lIns="0" tIns="0" rIns="0" bIns="0" rtlCol="0" anchor="t">
            <a:spAutoFit/>
          </a:bodyPr>
          <a:lstStyle/>
          <a:p>
            <a:pPr algn="ctr"/>
            <a:r>
              <a:rPr lang="en-US" sz="1600" b="1">
                <a:solidFill>
                  <a:srgbClr val="101A2B"/>
                </a:solidFill>
                <a:latin typeface="Segoe UI" panose="020B0502040204020203" pitchFamily="34" charset="0"/>
              </a:rPr>
              <a:t>Snowflake adapter</a:t>
            </a:r>
          </a:p>
        </p:txBody>
      </p:sp>
      <p:sp>
        <p:nvSpPr>
          <p:cNvPr id="21" name="TextBox 20">
            <a:extLst>
              <a:ext uri="{FF2B5EF4-FFF2-40B4-BE49-F238E27FC236}">
                <a16:creationId xmlns:a16="http://schemas.microsoft.com/office/drawing/2014/main" id="{DFF6B010-B786-0BF5-ECA5-3B6F60B265DA}"/>
              </a:ext>
            </a:extLst>
          </p:cNvPr>
          <p:cNvSpPr txBox="1"/>
          <p:nvPr/>
        </p:nvSpPr>
        <p:spPr>
          <a:xfrm>
            <a:off x="6311900" y="3771900"/>
            <a:ext cx="2108200" cy="169277"/>
          </a:xfrm>
          <a:prstGeom prst="rect">
            <a:avLst/>
          </a:prstGeom>
          <a:noFill/>
        </p:spPr>
        <p:txBody>
          <a:bodyPr vert="horz" wrap="square" lIns="0" tIns="0" rIns="0" bIns="0" rtlCol="0" anchor="t">
            <a:spAutoFit/>
          </a:bodyPr>
          <a:lstStyle/>
          <a:p>
            <a:pPr algn="ctr"/>
            <a:r>
              <a:rPr lang="en-US" sz="1100">
                <a:solidFill>
                  <a:srgbClr val="666666"/>
                </a:solidFill>
                <a:latin typeface="Segoe UI" panose="020B0502040204020203" pitchFamily="34" charset="0"/>
              </a:rPr>
              <a:t>Mock today; connector-ready</a:t>
            </a:r>
          </a:p>
        </p:txBody>
      </p:sp>
      <p:sp>
        <p:nvSpPr>
          <p:cNvPr id="22" name="Rectangle: Rounded Corners 21">
            <a:extLst>
              <a:ext uri="{FF2B5EF4-FFF2-40B4-BE49-F238E27FC236}">
                <a16:creationId xmlns:a16="http://schemas.microsoft.com/office/drawing/2014/main" id="{41222A50-1368-6B31-20BC-B963F683B8C6}"/>
              </a:ext>
            </a:extLst>
          </p:cNvPr>
          <p:cNvSpPr/>
          <p:nvPr/>
        </p:nvSpPr>
        <p:spPr>
          <a:xfrm>
            <a:off x="9334500" y="1524000"/>
            <a:ext cx="2286000" cy="1066800"/>
          </a:xfrm>
          <a:prstGeom prst="roundRect">
            <a:avLst/>
          </a:prstGeom>
          <a:solidFill>
            <a:srgbClr val="FFFFFF"/>
          </a:solidFill>
          <a:ln w="25400">
            <a:solidFill>
              <a:srgbClr val="0078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2364AEA-8FD8-B1D2-A07E-7D3771B3C3E9}"/>
              </a:ext>
            </a:extLst>
          </p:cNvPr>
          <p:cNvSpPr txBox="1"/>
          <p:nvPr/>
        </p:nvSpPr>
        <p:spPr>
          <a:xfrm>
            <a:off x="9486900" y="1701800"/>
            <a:ext cx="1981200" cy="492443"/>
          </a:xfrm>
          <a:prstGeom prst="rect">
            <a:avLst/>
          </a:prstGeom>
          <a:noFill/>
        </p:spPr>
        <p:txBody>
          <a:bodyPr vert="horz" wrap="square" lIns="0" tIns="0" rIns="0" bIns="0" rtlCol="0" anchor="t">
            <a:spAutoFit/>
          </a:bodyPr>
          <a:lstStyle/>
          <a:p>
            <a:pPr algn="ctr"/>
            <a:r>
              <a:rPr lang="en-US" sz="1600" b="1">
                <a:solidFill>
                  <a:srgbClr val="101A2B"/>
                </a:solidFill>
                <a:latin typeface="Segoe UI" panose="020B0502040204020203" pitchFamily="34" charset="0"/>
              </a:rPr>
              <a:t>Azure Container Registry</a:t>
            </a:r>
          </a:p>
        </p:txBody>
      </p:sp>
      <p:sp>
        <p:nvSpPr>
          <p:cNvPr id="24" name="TextBox 23">
            <a:extLst>
              <a:ext uri="{FF2B5EF4-FFF2-40B4-BE49-F238E27FC236}">
                <a16:creationId xmlns:a16="http://schemas.microsoft.com/office/drawing/2014/main" id="{BBDEFD58-CD81-4C38-2779-3BC93FCF1C7F}"/>
              </a:ext>
            </a:extLst>
          </p:cNvPr>
          <p:cNvSpPr txBox="1"/>
          <p:nvPr/>
        </p:nvSpPr>
        <p:spPr>
          <a:xfrm>
            <a:off x="9486900" y="2120900"/>
            <a:ext cx="1981200" cy="169277"/>
          </a:xfrm>
          <a:prstGeom prst="rect">
            <a:avLst/>
          </a:prstGeom>
          <a:noFill/>
        </p:spPr>
        <p:txBody>
          <a:bodyPr vert="horz" wrap="square" lIns="0" tIns="0" rIns="0" bIns="0" rtlCol="0" anchor="t">
            <a:spAutoFit/>
          </a:bodyPr>
          <a:lstStyle/>
          <a:p>
            <a:pPr algn="ctr"/>
            <a:r>
              <a:rPr lang="en-US" sz="1100">
                <a:solidFill>
                  <a:srgbClr val="666666"/>
                </a:solidFill>
                <a:latin typeface="Segoe UI" panose="020B0502040204020203" pitchFamily="34" charset="0"/>
              </a:rPr>
              <a:t>Immutable application image</a:t>
            </a:r>
          </a:p>
        </p:txBody>
      </p:sp>
      <p:sp>
        <p:nvSpPr>
          <p:cNvPr id="25" name="Rectangle: Rounded Corners 24">
            <a:extLst>
              <a:ext uri="{FF2B5EF4-FFF2-40B4-BE49-F238E27FC236}">
                <a16:creationId xmlns:a16="http://schemas.microsoft.com/office/drawing/2014/main" id="{6F2E6D86-2914-55B3-FA37-207413D54ABE}"/>
              </a:ext>
            </a:extLst>
          </p:cNvPr>
          <p:cNvSpPr/>
          <p:nvPr/>
        </p:nvSpPr>
        <p:spPr>
          <a:xfrm>
            <a:off x="9334500" y="3175000"/>
            <a:ext cx="2286000" cy="1066800"/>
          </a:xfrm>
          <a:prstGeom prst="roundRect">
            <a:avLst/>
          </a:prstGeom>
          <a:solidFill>
            <a:srgbClr val="FFFFFF"/>
          </a:solidFill>
          <a:ln w="25400">
            <a:solidFill>
              <a:srgbClr val="B11F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65AC74E-A049-0BF3-5B05-1F24DE4D225D}"/>
              </a:ext>
            </a:extLst>
          </p:cNvPr>
          <p:cNvSpPr txBox="1"/>
          <p:nvPr/>
        </p:nvSpPr>
        <p:spPr>
          <a:xfrm>
            <a:off x="9486900" y="3352800"/>
            <a:ext cx="1981200" cy="246221"/>
          </a:xfrm>
          <a:prstGeom prst="rect">
            <a:avLst/>
          </a:prstGeom>
          <a:noFill/>
        </p:spPr>
        <p:txBody>
          <a:bodyPr vert="horz" wrap="square" lIns="0" tIns="0" rIns="0" bIns="0" rtlCol="0" anchor="t">
            <a:spAutoFit/>
          </a:bodyPr>
          <a:lstStyle/>
          <a:p>
            <a:pPr algn="ctr"/>
            <a:r>
              <a:rPr lang="en-US" sz="1600" b="1">
                <a:solidFill>
                  <a:srgbClr val="101A2B"/>
                </a:solidFill>
                <a:latin typeface="Segoe UI" panose="020B0502040204020203" pitchFamily="34" charset="0"/>
              </a:rPr>
              <a:t>Key Vault</a:t>
            </a:r>
          </a:p>
        </p:txBody>
      </p:sp>
      <p:sp>
        <p:nvSpPr>
          <p:cNvPr id="27" name="TextBox 26">
            <a:extLst>
              <a:ext uri="{FF2B5EF4-FFF2-40B4-BE49-F238E27FC236}">
                <a16:creationId xmlns:a16="http://schemas.microsoft.com/office/drawing/2014/main" id="{FABD6241-7557-8FCE-7A3B-E562BEB9F875}"/>
              </a:ext>
            </a:extLst>
          </p:cNvPr>
          <p:cNvSpPr txBox="1"/>
          <p:nvPr/>
        </p:nvSpPr>
        <p:spPr>
          <a:xfrm>
            <a:off x="9486900" y="3771900"/>
            <a:ext cx="1981200" cy="169277"/>
          </a:xfrm>
          <a:prstGeom prst="rect">
            <a:avLst/>
          </a:prstGeom>
          <a:noFill/>
        </p:spPr>
        <p:txBody>
          <a:bodyPr vert="horz" wrap="square" lIns="0" tIns="0" rIns="0" bIns="0" rtlCol="0" anchor="t">
            <a:spAutoFit/>
          </a:bodyPr>
          <a:lstStyle/>
          <a:p>
            <a:pPr algn="ctr"/>
            <a:r>
              <a:rPr lang="en-US" sz="1100">
                <a:solidFill>
                  <a:srgbClr val="666666"/>
                </a:solidFill>
                <a:latin typeface="Segoe UI" panose="020B0502040204020203" pitchFamily="34" charset="0"/>
              </a:rPr>
              <a:t>Secret boundary</a:t>
            </a:r>
          </a:p>
        </p:txBody>
      </p:sp>
      <p:sp>
        <p:nvSpPr>
          <p:cNvPr id="28" name="Arrow: Chevron 27">
            <a:extLst>
              <a:ext uri="{FF2B5EF4-FFF2-40B4-BE49-F238E27FC236}">
                <a16:creationId xmlns:a16="http://schemas.microsoft.com/office/drawing/2014/main" id="{60BB1672-97C8-F389-8A5A-9CB71FF2A4A2}"/>
              </a:ext>
            </a:extLst>
          </p:cNvPr>
          <p:cNvSpPr/>
          <p:nvPr/>
        </p:nvSpPr>
        <p:spPr>
          <a:xfrm>
            <a:off x="2540000" y="2628900"/>
            <a:ext cx="330200" cy="330200"/>
          </a:xfrm>
          <a:prstGeom prst="chevron">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Arrow: Chevron 28">
            <a:extLst>
              <a:ext uri="{FF2B5EF4-FFF2-40B4-BE49-F238E27FC236}">
                <a16:creationId xmlns:a16="http://schemas.microsoft.com/office/drawing/2014/main" id="{8D0E8EDD-9F50-5C94-3C61-25EF4EBD081C}"/>
              </a:ext>
            </a:extLst>
          </p:cNvPr>
          <p:cNvSpPr/>
          <p:nvPr/>
        </p:nvSpPr>
        <p:spPr>
          <a:xfrm>
            <a:off x="5588000" y="1905000"/>
            <a:ext cx="330200" cy="330200"/>
          </a:xfrm>
          <a:prstGeom prst="chevron">
            <a:avLst/>
          </a:prstGeom>
          <a:solidFill>
            <a:srgbClr val="F275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Arrow: Chevron 29">
            <a:extLst>
              <a:ext uri="{FF2B5EF4-FFF2-40B4-BE49-F238E27FC236}">
                <a16:creationId xmlns:a16="http://schemas.microsoft.com/office/drawing/2014/main" id="{03D0321E-D69C-7750-C826-0462E0695AAB}"/>
              </a:ext>
            </a:extLst>
          </p:cNvPr>
          <p:cNvSpPr/>
          <p:nvPr/>
        </p:nvSpPr>
        <p:spPr>
          <a:xfrm>
            <a:off x="5588000" y="3429000"/>
            <a:ext cx="330200" cy="330200"/>
          </a:xfrm>
          <a:prstGeom prst="chevron">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Arrow: Chevron 30">
            <a:extLst>
              <a:ext uri="{FF2B5EF4-FFF2-40B4-BE49-F238E27FC236}">
                <a16:creationId xmlns:a16="http://schemas.microsoft.com/office/drawing/2014/main" id="{A2039779-CA5C-3A6C-AF79-91956DD42E6C}"/>
              </a:ext>
            </a:extLst>
          </p:cNvPr>
          <p:cNvSpPr/>
          <p:nvPr/>
        </p:nvSpPr>
        <p:spPr>
          <a:xfrm>
            <a:off x="8775700" y="1905000"/>
            <a:ext cx="330200" cy="330200"/>
          </a:xfrm>
          <a:prstGeom prst="chevron">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Arrow: Chevron 31">
            <a:extLst>
              <a:ext uri="{FF2B5EF4-FFF2-40B4-BE49-F238E27FC236}">
                <a16:creationId xmlns:a16="http://schemas.microsoft.com/office/drawing/2014/main" id="{EA6C06CD-D3AD-A6B7-2160-67FC57B98D8E}"/>
              </a:ext>
            </a:extLst>
          </p:cNvPr>
          <p:cNvSpPr/>
          <p:nvPr/>
        </p:nvSpPr>
        <p:spPr>
          <a:xfrm>
            <a:off x="8775700" y="3429000"/>
            <a:ext cx="330200" cy="330200"/>
          </a:xfrm>
          <a:prstGeom prst="chevron">
            <a:avLst/>
          </a:prstGeom>
          <a:solidFill>
            <a:srgbClr val="B11F4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 name="Rectangle: Rounded Corners 32">
            <a:extLst>
              <a:ext uri="{FF2B5EF4-FFF2-40B4-BE49-F238E27FC236}">
                <a16:creationId xmlns:a16="http://schemas.microsoft.com/office/drawing/2014/main" id="{5363926E-C1B1-A282-4D1D-A68C9297CA3B}"/>
              </a:ext>
            </a:extLst>
          </p:cNvPr>
          <p:cNvSpPr/>
          <p:nvPr/>
        </p:nvSpPr>
        <p:spPr>
          <a:xfrm>
            <a:off x="2984500" y="4775200"/>
            <a:ext cx="8636000" cy="889000"/>
          </a:xfrm>
          <a:prstGeom prst="roundRect">
            <a:avLst/>
          </a:prstGeom>
          <a:solidFill>
            <a:srgbClr val="DFEEFC"/>
          </a:solidFill>
          <a:ln w="12700">
            <a:solidFill>
              <a:srgbClr val="DFEE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E24AECB6-213C-F918-5C3D-653ECC6367E4}"/>
              </a:ext>
            </a:extLst>
          </p:cNvPr>
          <p:cNvSpPr txBox="1"/>
          <p:nvPr/>
        </p:nvSpPr>
        <p:spPr>
          <a:xfrm>
            <a:off x="3276600" y="4965700"/>
            <a:ext cx="1905000" cy="215444"/>
          </a:xfrm>
          <a:prstGeom prst="rect">
            <a:avLst/>
          </a:prstGeom>
          <a:noFill/>
        </p:spPr>
        <p:txBody>
          <a:bodyPr vert="horz" wrap="square" lIns="0" tIns="0" rIns="0" bIns="0" rtlCol="0" anchor="t">
            <a:spAutoFit/>
          </a:bodyPr>
          <a:lstStyle/>
          <a:p>
            <a:r>
              <a:rPr lang="en-US" sz="1400" b="1">
                <a:solidFill>
                  <a:srgbClr val="005B9A"/>
                </a:solidFill>
                <a:latin typeface="Segoe UI" panose="020B0502040204020203" pitchFamily="34" charset="0"/>
              </a:rPr>
              <a:t>Managed identity</a:t>
            </a:r>
          </a:p>
        </p:txBody>
      </p:sp>
      <p:sp>
        <p:nvSpPr>
          <p:cNvPr id="35" name="TextBox 34">
            <a:extLst>
              <a:ext uri="{FF2B5EF4-FFF2-40B4-BE49-F238E27FC236}">
                <a16:creationId xmlns:a16="http://schemas.microsoft.com/office/drawing/2014/main" id="{B501D986-BDA7-C4D0-ADF5-3C693358A91E}"/>
              </a:ext>
            </a:extLst>
          </p:cNvPr>
          <p:cNvSpPr txBox="1"/>
          <p:nvPr/>
        </p:nvSpPr>
        <p:spPr>
          <a:xfrm>
            <a:off x="5308600" y="4927600"/>
            <a:ext cx="5943600" cy="400110"/>
          </a:xfrm>
          <a:prstGeom prst="rect">
            <a:avLst/>
          </a:prstGeom>
          <a:noFill/>
        </p:spPr>
        <p:txBody>
          <a:bodyPr vert="horz" wrap="square" lIns="0" tIns="0" rIns="0" bIns="0" rtlCol="0" anchor="t">
            <a:spAutoFit/>
          </a:bodyPr>
          <a:lstStyle/>
          <a:p>
            <a:r>
              <a:rPr lang="en-US" sz="1300">
                <a:solidFill>
                  <a:srgbClr val="262626"/>
                </a:solidFill>
                <a:latin typeface="Segoe UI" panose="020B0502040204020203" pitchFamily="34" charset="0"/>
              </a:rPr>
              <a:t>Resource-scoped access to ACR, Key Vault, and Foundry. No API key is required in the deployed app.</a:t>
            </a:r>
          </a:p>
        </p:txBody>
      </p:sp>
    </p:spTree>
    <p:extLst>
      <p:ext uri="{BB962C8B-B14F-4D97-AF65-F5344CB8AC3E}">
        <p14:creationId xmlns:p14="http://schemas.microsoft.com/office/powerpoint/2010/main" val="528616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EC509C-1B55-0758-ACCD-1A1146B4B6F3}"/>
              </a:ext>
            </a:extLst>
          </p:cNvPr>
          <p:cNvSpPr/>
          <p:nvPr/>
        </p:nvSpPr>
        <p:spPr>
          <a:xfrm>
            <a:off x="533400" y="342900"/>
            <a:ext cx="88900" cy="88900"/>
          </a:xfrm>
          <a:prstGeom prst="rect">
            <a:avLst/>
          </a:prstGeom>
          <a:solidFill>
            <a:srgbClr val="D142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52F3274-6F75-715A-3CFE-9A7A041A5EE0}"/>
              </a:ext>
            </a:extLst>
          </p:cNvPr>
          <p:cNvSpPr/>
          <p:nvPr/>
        </p:nvSpPr>
        <p:spPr>
          <a:xfrm>
            <a:off x="647700" y="342900"/>
            <a:ext cx="88900" cy="88900"/>
          </a:xfrm>
          <a:prstGeom prst="rect">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2CAB727-CBA5-CF56-97C2-05AB618ED6DA}"/>
              </a:ext>
            </a:extLst>
          </p:cNvPr>
          <p:cNvSpPr/>
          <p:nvPr/>
        </p:nvSpPr>
        <p:spPr>
          <a:xfrm>
            <a:off x="533400" y="457200"/>
            <a:ext cx="88900" cy="88900"/>
          </a:xfrm>
          <a:prstGeom prst="rect">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FEA1D1A-BCED-5C84-7030-3B21A19BFC4E}"/>
              </a:ext>
            </a:extLst>
          </p:cNvPr>
          <p:cNvSpPr/>
          <p:nvPr/>
        </p:nvSpPr>
        <p:spPr>
          <a:xfrm>
            <a:off x="647700" y="457200"/>
            <a:ext cx="88900" cy="88900"/>
          </a:xfrm>
          <a:prstGeom prst="rect">
            <a:avLst/>
          </a:prstGeom>
          <a:solidFill>
            <a:srgbClr val="FFB7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ECC59D4-EE3B-2845-51EA-00B73DC90CB0}"/>
              </a:ext>
            </a:extLst>
          </p:cNvPr>
          <p:cNvSpPr txBox="1"/>
          <p:nvPr/>
        </p:nvSpPr>
        <p:spPr>
          <a:xfrm>
            <a:off x="863600" y="342900"/>
            <a:ext cx="1498600" cy="153888"/>
          </a:xfrm>
          <a:prstGeom prst="rect">
            <a:avLst/>
          </a:prstGeom>
          <a:noFill/>
        </p:spPr>
        <p:txBody>
          <a:bodyPr vert="horz" wrap="square" lIns="0" tIns="0" rIns="0" bIns="0" rtlCol="0" anchor="t">
            <a:spAutoFit/>
          </a:bodyPr>
          <a:lstStyle/>
          <a:p>
            <a:r>
              <a:rPr lang="en-US" sz="1000" b="1">
                <a:solidFill>
                  <a:srgbClr val="666666"/>
                </a:solidFill>
                <a:latin typeface="Segoe UI" panose="020B0502040204020203" pitchFamily="34" charset="0"/>
              </a:rPr>
              <a:t>SNOWBRIDGE</a:t>
            </a:r>
          </a:p>
        </p:txBody>
      </p:sp>
      <p:sp>
        <p:nvSpPr>
          <p:cNvPr id="7" name="TextBox 6">
            <a:extLst>
              <a:ext uri="{FF2B5EF4-FFF2-40B4-BE49-F238E27FC236}">
                <a16:creationId xmlns:a16="http://schemas.microsoft.com/office/drawing/2014/main" id="{C06DD1EF-F448-C0DD-0C61-D4FA4B29B2C9}"/>
              </a:ext>
            </a:extLst>
          </p:cNvPr>
          <p:cNvSpPr txBox="1"/>
          <p:nvPr/>
        </p:nvSpPr>
        <p:spPr>
          <a:xfrm>
            <a:off x="9525000" y="355600"/>
            <a:ext cx="2095500" cy="138499"/>
          </a:xfrm>
          <a:prstGeom prst="rect">
            <a:avLst/>
          </a:prstGeom>
          <a:noFill/>
        </p:spPr>
        <p:txBody>
          <a:bodyPr vert="horz" wrap="square" lIns="0" tIns="0" rIns="0" bIns="0" rtlCol="0" anchor="t">
            <a:spAutoFit/>
          </a:bodyPr>
          <a:lstStyle/>
          <a:p>
            <a:pPr algn="r"/>
            <a:r>
              <a:rPr lang="en-US" sz="900" b="1">
                <a:solidFill>
                  <a:srgbClr val="0078D4"/>
                </a:solidFill>
                <a:latin typeface="Segoe UI" panose="020B0502040204020203" pitchFamily="34" charset="0"/>
              </a:rPr>
              <a:t>TRUST AND CONTROLS</a:t>
            </a:r>
          </a:p>
        </p:txBody>
      </p:sp>
      <p:sp>
        <p:nvSpPr>
          <p:cNvPr id="8" name="TextBox 7">
            <a:extLst>
              <a:ext uri="{FF2B5EF4-FFF2-40B4-BE49-F238E27FC236}">
                <a16:creationId xmlns:a16="http://schemas.microsoft.com/office/drawing/2014/main" id="{FFA033CE-6B48-C3C5-4E2C-51FED8FDD5EA}"/>
              </a:ext>
            </a:extLst>
          </p:cNvPr>
          <p:cNvSpPr txBox="1"/>
          <p:nvPr/>
        </p:nvSpPr>
        <p:spPr>
          <a:xfrm>
            <a:off x="533400" y="825500"/>
            <a:ext cx="10922000" cy="430887"/>
          </a:xfrm>
          <a:prstGeom prst="rect">
            <a:avLst/>
          </a:prstGeom>
          <a:noFill/>
        </p:spPr>
        <p:txBody>
          <a:bodyPr vert="horz" wrap="square" lIns="0" tIns="0" rIns="0" bIns="0" rtlCol="0" anchor="t">
            <a:spAutoFit/>
          </a:bodyPr>
          <a:lstStyle/>
          <a:p>
            <a:r>
              <a:rPr lang="en-US" sz="2800" b="1">
                <a:solidFill>
                  <a:srgbClr val="101A2B"/>
                </a:solidFill>
                <a:latin typeface="Segoe UI" panose="020B0502040204020203" pitchFamily="34" charset="0"/>
              </a:rPr>
              <a:t>Defense in depth, not model confidence</a:t>
            </a:r>
          </a:p>
        </p:txBody>
      </p:sp>
      <p:sp>
        <p:nvSpPr>
          <p:cNvPr id="9" name="TextBox 8">
            <a:extLst>
              <a:ext uri="{FF2B5EF4-FFF2-40B4-BE49-F238E27FC236}">
                <a16:creationId xmlns:a16="http://schemas.microsoft.com/office/drawing/2014/main" id="{EC793964-A89C-9F94-B0E2-3EFF1C97A164}"/>
              </a:ext>
            </a:extLst>
          </p:cNvPr>
          <p:cNvSpPr txBox="1"/>
          <p:nvPr/>
        </p:nvSpPr>
        <p:spPr>
          <a:xfrm>
            <a:off x="11430000" y="6248400"/>
            <a:ext cx="330200" cy="138499"/>
          </a:xfrm>
          <a:prstGeom prst="rect">
            <a:avLst/>
          </a:prstGeom>
          <a:noFill/>
        </p:spPr>
        <p:txBody>
          <a:bodyPr vert="horz" wrap="square" lIns="0" tIns="0" rIns="0" bIns="0" rtlCol="0" anchor="t">
            <a:spAutoFit/>
          </a:bodyPr>
          <a:lstStyle/>
          <a:p>
            <a:pPr algn="r"/>
            <a:r>
              <a:rPr lang="en-US" sz="900">
                <a:solidFill>
                  <a:srgbClr val="666666"/>
                </a:solidFill>
                <a:latin typeface="Segoe UI" panose="020B0502040204020203" pitchFamily="34" charset="0"/>
              </a:rPr>
              <a:t>07</a:t>
            </a:r>
          </a:p>
        </p:txBody>
      </p:sp>
      <p:sp>
        <p:nvSpPr>
          <p:cNvPr id="10" name="Rectangle: Rounded Corners 9">
            <a:extLst>
              <a:ext uri="{FF2B5EF4-FFF2-40B4-BE49-F238E27FC236}">
                <a16:creationId xmlns:a16="http://schemas.microsoft.com/office/drawing/2014/main" id="{3B1302D9-8DA6-3C89-E228-98FCC77C82DC}"/>
              </a:ext>
            </a:extLst>
          </p:cNvPr>
          <p:cNvSpPr/>
          <p:nvPr/>
        </p:nvSpPr>
        <p:spPr>
          <a:xfrm>
            <a:off x="1270000" y="1803400"/>
            <a:ext cx="9652000" cy="711200"/>
          </a:xfrm>
          <a:prstGeom prst="roundRect">
            <a:avLst/>
          </a:prstGeom>
          <a:solidFill>
            <a:srgbClr val="101A2B"/>
          </a:solidFill>
          <a:ln w="12700">
            <a:solidFill>
              <a:srgbClr val="101A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C977C99-CB57-F59B-30E0-EAFF3C6D2D9B}"/>
              </a:ext>
            </a:extLst>
          </p:cNvPr>
          <p:cNvSpPr txBox="1"/>
          <p:nvPr/>
        </p:nvSpPr>
        <p:spPr>
          <a:xfrm>
            <a:off x="1524000" y="2006600"/>
            <a:ext cx="9144000" cy="246221"/>
          </a:xfrm>
          <a:prstGeom prst="rect">
            <a:avLst/>
          </a:prstGeom>
          <a:noFill/>
        </p:spPr>
        <p:txBody>
          <a:bodyPr vert="horz" wrap="square" lIns="0" tIns="0" rIns="0" bIns="0" rtlCol="0" anchor="t">
            <a:spAutoFit/>
          </a:bodyPr>
          <a:lstStyle/>
          <a:p>
            <a:pPr algn="ctr"/>
            <a:r>
              <a:rPr lang="en-US" sz="1600" b="1">
                <a:solidFill>
                  <a:srgbClr val="FFFFFF"/>
                </a:solidFill>
                <a:latin typeface="Segoe UI" panose="020B0502040204020203" pitchFamily="34" charset="0"/>
              </a:rPr>
              <a:t>1  Allowlisted operation catalog</a:t>
            </a:r>
          </a:p>
        </p:txBody>
      </p:sp>
      <p:sp>
        <p:nvSpPr>
          <p:cNvPr id="12" name="Rectangle: Rounded Corners 11">
            <a:extLst>
              <a:ext uri="{FF2B5EF4-FFF2-40B4-BE49-F238E27FC236}">
                <a16:creationId xmlns:a16="http://schemas.microsoft.com/office/drawing/2014/main" id="{B3C9BF16-E55D-1E11-0D67-C36F53DCB864}"/>
              </a:ext>
            </a:extLst>
          </p:cNvPr>
          <p:cNvSpPr/>
          <p:nvPr/>
        </p:nvSpPr>
        <p:spPr>
          <a:xfrm>
            <a:off x="1905000" y="2667000"/>
            <a:ext cx="8382000" cy="711200"/>
          </a:xfrm>
          <a:prstGeom prst="roundRect">
            <a:avLst/>
          </a:prstGeom>
          <a:solidFill>
            <a:srgbClr val="0078D4"/>
          </a:solidFill>
          <a:ln w="12700">
            <a:solidFill>
              <a:srgbClr val="0078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6119C1F-3692-3D0D-CCB1-A95482E3E64D}"/>
              </a:ext>
            </a:extLst>
          </p:cNvPr>
          <p:cNvSpPr txBox="1"/>
          <p:nvPr/>
        </p:nvSpPr>
        <p:spPr>
          <a:xfrm>
            <a:off x="2159000" y="2870200"/>
            <a:ext cx="7874000" cy="246221"/>
          </a:xfrm>
          <a:prstGeom prst="rect">
            <a:avLst/>
          </a:prstGeom>
          <a:noFill/>
        </p:spPr>
        <p:txBody>
          <a:bodyPr vert="horz" wrap="square" lIns="0" tIns="0" rIns="0" bIns="0" rtlCol="0" anchor="t">
            <a:spAutoFit/>
          </a:bodyPr>
          <a:lstStyle/>
          <a:p>
            <a:pPr algn="ctr"/>
            <a:r>
              <a:rPr lang="en-US" sz="1600" b="1">
                <a:solidFill>
                  <a:srgbClr val="FFFFFF"/>
                </a:solidFill>
                <a:latin typeface="Segoe UI" panose="020B0502040204020203" pitchFamily="34" charset="0"/>
              </a:rPr>
              <a:t>2  Deterministic parameter validation</a:t>
            </a:r>
          </a:p>
        </p:txBody>
      </p:sp>
      <p:sp>
        <p:nvSpPr>
          <p:cNvPr id="14" name="Rectangle: Rounded Corners 13">
            <a:extLst>
              <a:ext uri="{FF2B5EF4-FFF2-40B4-BE49-F238E27FC236}">
                <a16:creationId xmlns:a16="http://schemas.microsoft.com/office/drawing/2014/main" id="{BA4C2B9A-BA56-7DED-3A3E-BDCBD9C44BCC}"/>
              </a:ext>
            </a:extLst>
          </p:cNvPr>
          <p:cNvSpPr/>
          <p:nvPr/>
        </p:nvSpPr>
        <p:spPr>
          <a:xfrm>
            <a:off x="2540000" y="3530600"/>
            <a:ext cx="7112000" cy="711200"/>
          </a:xfrm>
          <a:prstGeom prst="roundRect">
            <a:avLst/>
          </a:prstGeom>
          <a:solidFill>
            <a:srgbClr val="B11F4B"/>
          </a:solidFill>
          <a:ln w="12700">
            <a:solidFill>
              <a:srgbClr val="B11F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2272815-C12B-CD49-1B0F-E2D94EC5F455}"/>
              </a:ext>
            </a:extLst>
          </p:cNvPr>
          <p:cNvSpPr txBox="1"/>
          <p:nvPr/>
        </p:nvSpPr>
        <p:spPr>
          <a:xfrm>
            <a:off x="2794000" y="3733800"/>
            <a:ext cx="6604000" cy="246221"/>
          </a:xfrm>
          <a:prstGeom prst="rect">
            <a:avLst/>
          </a:prstGeom>
          <a:noFill/>
        </p:spPr>
        <p:txBody>
          <a:bodyPr vert="horz" wrap="square" lIns="0" tIns="0" rIns="0" bIns="0" rtlCol="0" anchor="t">
            <a:spAutoFit/>
          </a:bodyPr>
          <a:lstStyle/>
          <a:p>
            <a:pPr algn="ctr"/>
            <a:r>
              <a:rPr lang="en-US" sz="1600" b="1">
                <a:solidFill>
                  <a:srgbClr val="FFFFFF"/>
                </a:solidFill>
                <a:latin typeface="Segoe UI" panose="020B0502040204020203" pitchFamily="34" charset="0"/>
              </a:rPr>
              <a:t>3  Explicit human confirmation</a:t>
            </a:r>
          </a:p>
        </p:txBody>
      </p:sp>
      <p:sp>
        <p:nvSpPr>
          <p:cNvPr id="16" name="Rectangle: Rounded Corners 15">
            <a:extLst>
              <a:ext uri="{FF2B5EF4-FFF2-40B4-BE49-F238E27FC236}">
                <a16:creationId xmlns:a16="http://schemas.microsoft.com/office/drawing/2014/main" id="{AAD7B95F-FA41-F71E-7AC7-EB55720DC21D}"/>
              </a:ext>
            </a:extLst>
          </p:cNvPr>
          <p:cNvSpPr/>
          <p:nvPr/>
        </p:nvSpPr>
        <p:spPr>
          <a:xfrm>
            <a:off x="3175000" y="4394200"/>
            <a:ext cx="5842000" cy="711200"/>
          </a:xfrm>
          <a:prstGeom prst="roundRect">
            <a:avLst/>
          </a:prstGeom>
          <a:solidFill>
            <a:srgbClr val="107C10"/>
          </a:solidFill>
          <a:ln w="12700">
            <a:solidFill>
              <a:srgbClr val="107C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982966D-62BA-87CB-4A8D-558FF489D04B}"/>
              </a:ext>
            </a:extLst>
          </p:cNvPr>
          <p:cNvSpPr txBox="1"/>
          <p:nvPr/>
        </p:nvSpPr>
        <p:spPr>
          <a:xfrm>
            <a:off x="3429000" y="4597400"/>
            <a:ext cx="5334000" cy="246221"/>
          </a:xfrm>
          <a:prstGeom prst="rect">
            <a:avLst/>
          </a:prstGeom>
          <a:noFill/>
        </p:spPr>
        <p:txBody>
          <a:bodyPr vert="horz" wrap="square" lIns="0" tIns="0" rIns="0" bIns="0" rtlCol="0" anchor="t">
            <a:spAutoFit/>
          </a:bodyPr>
          <a:lstStyle/>
          <a:p>
            <a:pPr algn="ctr"/>
            <a:r>
              <a:rPr lang="en-US" sz="1600" b="1">
                <a:solidFill>
                  <a:srgbClr val="FFFFFF"/>
                </a:solidFill>
                <a:latin typeface="Segoe UI" panose="020B0502040204020203" pitchFamily="34" charset="0"/>
              </a:rPr>
              <a:t>4  Parameterized connector-owned SQL</a:t>
            </a:r>
          </a:p>
        </p:txBody>
      </p:sp>
      <p:sp>
        <p:nvSpPr>
          <p:cNvPr id="18" name="TextBox 17">
            <a:extLst>
              <a:ext uri="{FF2B5EF4-FFF2-40B4-BE49-F238E27FC236}">
                <a16:creationId xmlns:a16="http://schemas.microsoft.com/office/drawing/2014/main" id="{BF619BC1-F359-4A70-5271-61B074034309}"/>
              </a:ext>
            </a:extLst>
          </p:cNvPr>
          <p:cNvSpPr txBox="1"/>
          <p:nvPr/>
        </p:nvSpPr>
        <p:spPr>
          <a:xfrm>
            <a:off x="2413000" y="5549900"/>
            <a:ext cx="7366000" cy="523220"/>
          </a:xfrm>
          <a:prstGeom prst="rect">
            <a:avLst/>
          </a:prstGeom>
          <a:noFill/>
        </p:spPr>
        <p:txBody>
          <a:bodyPr vert="horz" wrap="square" lIns="0" tIns="0" rIns="0" bIns="0" rtlCol="0" anchor="t">
            <a:spAutoFit/>
          </a:bodyPr>
          <a:lstStyle/>
          <a:p>
            <a:pPr algn="ctr"/>
            <a:r>
              <a:rPr lang="en-US" sz="1700" b="1">
                <a:solidFill>
                  <a:srgbClr val="101A2B"/>
                </a:solidFill>
                <a:latin typeface="Segoe UI" panose="020B0502040204020203" pitchFamily="34" charset="0"/>
              </a:rPr>
              <a:t>The model cannot bypass the catalog, invent parameters, or execute directly.</a:t>
            </a:r>
          </a:p>
        </p:txBody>
      </p:sp>
    </p:spTree>
    <p:extLst>
      <p:ext uri="{BB962C8B-B14F-4D97-AF65-F5344CB8AC3E}">
        <p14:creationId xmlns:p14="http://schemas.microsoft.com/office/powerpoint/2010/main" val="3737114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AE3BA1-C352-0CD3-586D-654741BC0B88}"/>
              </a:ext>
            </a:extLst>
          </p:cNvPr>
          <p:cNvSpPr/>
          <p:nvPr/>
        </p:nvSpPr>
        <p:spPr>
          <a:xfrm>
            <a:off x="533400" y="342900"/>
            <a:ext cx="88900" cy="88900"/>
          </a:xfrm>
          <a:prstGeom prst="rect">
            <a:avLst/>
          </a:prstGeom>
          <a:solidFill>
            <a:srgbClr val="D142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B9A4491-CD00-C24F-7641-0CEC3BC45A25}"/>
              </a:ext>
            </a:extLst>
          </p:cNvPr>
          <p:cNvSpPr/>
          <p:nvPr/>
        </p:nvSpPr>
        <p:spPr>
          <a:xfrm>
            <a:off x="647700" y="342900"/>
            <a:ext cx="88900" cy="88900"/>
          </a:xfrm>
          <a:prstGeom prst="rect">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268B86F-C661-78E0-4B4A-54C56E12B230}"/>
              </a:ext>
            </a:extLst>
          </p:cNvPr>
          <p:cNvSpPr/>
          <p:nvPr/>
        </p:nvSpPr>
        <p:spPr>
          <a:xfrm>
            <a:off x="533400" y="457200"/>
            <a:ext cx="88900" cy="88900"/>
          </a:xfrm>
          <a:prstGeom prst="rect">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4BE88CC-BF74-C9B7-9479-B044341CD8AE}"/>
              </a:ext>
            </a:extLst>
          </p:cNvPr>
          <p:cNvSpPr/>
          <p:nvPr/>
        </p:nvSpPr>
        <p:spPr>
          <a:xfrm>
            <a:off x="647700" y="457200"/>
            <a:ext cx="88900" cy="88900"/>
          </a:xfrm>
          <a:prstGeom prst="rect">
            <a:avLst/>
          </a:prstGeom>
          <a:solidFill>
            <a:srgbClr val="FFB7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148049F-B6F5-D5A4-9768-57AB146465F1}"/>
              </a:ext>
            </a:extLst>
          </p:cNvPr>
          <p:cNvSpPr txBox="1"/>
          <p:nvPr/>
        </p:nvSpPr>
        <p:spPr>
          <a:xfrm>
            <a:off x="863600" y="342900"/>
            <a:ext cx="1498600" cy="153888"/>
          </a:xfrm>
          <a:prstGeom prst="rect">
            <a:avLst/>
          </a:prstGeom>
          <a:noFill/>
        </p:spPr>
        <p:txBody>
          <a:bodyPr vert="horz" wrap="square" lIns="0" tIns="0" rIns="0" bIns="0" rtlCol="0" anchor="t">
            <a:spAutoFit/>
          </a:bodyPr>
          <a:lstStyle/>
          <a:p>
            <a:r>
              <a:rPr lang="en-US" sz="1000" b="1">
                <a:solidFill>
                  <a:srgbClr val="666666"/>
                </a:solidFill>
                <a:latin typeface="Segoe UI" panose="020B0502040204020203" pitchFamily="34" charset="0"/>
              </a:rPr>
              <a:t>SNOWBRIDGE</a:t>
            </a:r>
          </a:p>
        </p:txBody>
      </p:sp>
      <p:sp>
        <p:nvSpPr>
          <p:cNvPr id="7" name="TextBox 6">
            <a:extLst>
              <a:ext uri="{FF2B5EF4-FFF2-40B4-BE49-F238E27FC236}">
                <a16:creationId xmlns:a16="http://schemas.microsoft.com/office/drawing/2014/main" id="{9FF67FAA-ACCB-F757-B447-A50377F342DD}"/>
              </a:ext>
            </a:extLst>
          </p:cNvPr>
          <p:cNvSpPr txBox="1"/>
          <p:nvPr/>
        </p:nvSpPr>
        <p:spPr>
          <a:xfrm>
            <a:off x="9525000" y="355600"/>
            <a:ext cx="2095500" cy="138499"/>
          </a:xfrm>
          <a:prstGeom prst="rect">
            <a:avLst/>
          </a:prstGeom>
          <a:noFill/>
        </p:spPr>
        <p:txBody>
          <a:bodyPr vert="horz" wrap="square" lIns="0" tIns="0" rIns="0" bIns="0" rtlCol="0" anchor="t">
            <a:spAutoFit/>
          </a:bodyPr>
          <a:lstStyle/>
          <a:p>
            <a:pPr algn="r"/>
            <a:r>
              <a:rPr lang="en-US" sz="900" b="1">
                <a:solidFill>
                  <a:srgbClr val="0078D4"/>
                </a:solidFill>
                <a:latin typeface="Segoe UI" panose="020B0502040204020203" pitchFamily="34" charset="0"/>
              </a:rPr>
              <a:t>DEMO GUIDE</a:t>
            </a:r>
          </a:p>
        </p:txBody>
      </p:sp>
      <p:sp>
        <p:nvSpPr>
          <p:cNvPr id="8" name="TextBox 7">
            <a:extLst>
              <a:ext uri="{FF2B5EF4-FFF2-40B4-BE49-F238E27FC236}">
                <a16:creationId xmlns:a16="http://schemas.microsoft.com/office/drawing/2014/main" id="{66960B5F-FF42-FC34-F90F-5D98487D17A0}"/>
              </a:ext>
            </a:extLst>
          </p:cNvPr>
          <p:cNvSpPr txBox="1"/>
          <p:nvPr/>
        </p:nvSpPr>
        <p:spPr>
          <a:xfrm>
            <a:off x="533400" y="825500"/>
            <a:ext cx="10922000" cy="430887"/>
          </a:xfrm>
          <a:prstGeom prst="rect">
            <a:avLst/>
          </a:prstGeom>
          <a:noFill/>
        </p:spPr>
        <p:txBody>
          <a:bodyPr vert="horz" wrap="square" lIns="0" tIns="0" rIns="0" bIns="0" rtlCol="0" anchor="t">
            <a:spAutoFit/>
          </a:bodyPr>
          <a:lstStyle/>
          <a:p>
            <a:r>
              <a:rPr lang="en-US" sz="2800" b="1">
                <a:solidFill>
                  <a:srgbClr val="101A2B"/>
                </a:solidFill>
                <a:latin typeface="Segoe UI" panose="020B0502040204020203" pitchFamily="34" charset="0"/>
              </a:rPr>
              <a:t>A three-minute customer demonstration</a:t>
            </a:r>
          </a:p>
        </p:txBody>
      </p:sp>
      <p:sp>
        <p:nvSpPr>
          <p:cNvPr id="9" name="TextBox 8">
            <a:extLst>
              <a:ext uri="{FF2B5EF4-FFF2-40B4-BE49-F238E27FC236}">
                <a16:creationId xmlns:a16="http://schemas.microsoft.com/office/drawing/2014/main" id="{04ED963F-5EEB-85FA-927D-32D13E8D40A8}"/>
              </a:ext>
            </a:extLst>
          </p:cNvPr>
          <p:cNvSpPr txBox="1"/>
          <p:nvPr/>
        </p:nvSpPr>
        <p:spPr>
          <a:xfrm>
            <a:off x="11430000" y="6248400"/>
            <a:ext cx="330200" cy="138499"/>
          </a:xfrm>
          <a:prstGeom prst="rect">
            <a:avLst/>
          </a:prstGeom>
          <a:noFill/>
        </p:spPr>
        <p:txBody>
          <a:bodyPr vert="horz" wrap="square" lIns="0" tIns="0" rIns="0" bIns="0" rtlCol="0" anchor="t">
            <a:spAutoFit/>
          </a:bodyPr>
          <a:lstStyle/>
          <a:p>
            <a:pPr algn="r"/>
            <a:r>
              <a:rPr lang="en-US" sz="900">
                <a:solidFill>
                  <a:srgbClr val="666666"/>
                </a:solidFill>
                <a:latin typeface="Segoe UI" panose="020B0502040204020203" pitchFamily="34" charset="0"/>
              </a:rPr>
              <a:t>08</a:t>
            </a:r>
          </a:p>
        </p:txBody>
      </p:sp>
      <p:sp>
        <p:nvSpPr>
          <p:cNvPr id="10" name="Rectangle: Rounded Corners 9">
            <a:extLst>
              <a:ext uri="{FF2B5EF4-FFF2-40B4-BE49-F238E27FC236}">
                <a16:creationId xmlns:a16="http://schemas.microsoft.com/office/drawing/2014/main" id="{D9CB472A-6C7B-D3EC-1C82-DD58C4C25F78}"/>
              </a:ext>
            </a:extLst>
          </p:cNvPr>
          <p:cNvSpPr/>
          <p:nvPr/>
        </p:nvSpPr>
        <p:spPr>
          <a:xfrm>
            <a:off x="6464300" y="1549400"/>
            <a:ext cx="5168900" cy="3289300"/>
          </a:xfrm>
          <a:prstGeom prst="roundRect">
            <a:avLst/>
          </a:prstGeom>
          <a:solidFill>
            <a:srgbClr val="FFFFFF"/>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B48DA7F-D0A4-16AB-87C1-8DAA52F7D48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540500" y="1625600"/>
            <a:ext cx="5016500" cy="3136900"/>
          </a:xfrm>
          <a:prstGeom prst="rect">
            <a:avLst/>
          </a:prstGeom>
        </p:spPr>
      </p:pic>
      <p:sp>
        <p:nvSpPr>
          <p:cNvPr id="13" name="TextBox 12">
            <a:extLst>
              <a:ext uri="{FF2B5EF4-FFF2-40B4-BE49-F238E27FC236}">
                <a16:creationId xmlns:a16="http://schemas.microsoft.com/office/drawing/2014/main" id="{4361B3C2-046F-6374-10CB-4AB7483816DD}"/>
              </a:ext>
            </a:extLst>
          </p:cNvPr>
          <p:cNvSpPr txBox="1"/>
          <p:nvPr/>
        </p:nvSpPr>
        <p:spPr>
          <a:xfrm>
            <a:off x="533400" y="1727200"/>
            <a:ext cx="609600" cy="276999"/>
          </a:xfrm>
          <a:prstGeom prst="rect">
            <a:avLst/>
          </a:prstGeom>
          <a:noFill/>
        </p:spPr>
        <p:txBody>
          <a:bodyPr vert="horz" wrap="square" lIns="0" tIns="0" rIns="0" bIns="0" rtlCol="0" anchor="t">
            <a:spAutoFit/>
          </a:bodyPr>
          <a:lstStyle/>
          <a:p>
            <a:r>
              <a:rPr lang="en-US" b="1">
                <a:solidFill>
                  <a:srgbClr val="0078D4"/>
                </a:solidFill>
                <a:latin typeface="Segoe UI" panose="020B0502040204020203" pitchFamily="34" charset="0"/>
              </a:rPr>
              <a:t>01</a:t>
            </a:r>
          </a:p>
        </p:txBody>
      </p:sp>
      <p:sp>
        <p:nvSpPr>
          <p:cNvPr id="14" name="TextBox 13">
            <a:extLst>
              <a:ext uri="{FF2B5EF4-FFF2-40B4-BE49-F238E27FC236}">
                <a16:creationId xmlns:a16="http://schemas.microsoft.com/office/drawing/2014/main" id="{C50291F1-AC5A-D6DB-26C3-0A77F965516C}"/>
              </a:ext>
            </a:extLst>
          </p:cNvPr>
          <p:cNvSpPr txBox="1"/>
          <p:nvPr/>
        </p:nvSpPr>
        <p:spPr>
          <a:xfrm>
            <a:off x="1282700" y="1727200"/>
            <a:ext cx="1397000" cy="246221"/>
          </a:xfrm>
          <a:prstGeom prst="rect">
            <a:avLst/>
          </a:prstGeom>
          <a:noFill/>
        </p:spPr>
        <p:txBody>
          <a:bodyPr vert="horz" wrap="square" lIns="0" tIns="0" rIns="0" bIns="0" rtlCol="0" anchor="t">
            <a:spAutoFit/>
          </a:bodyPr>
          <a:lstStyle/>
          <a:p>
            <a:r>
              <a:rPr lang="en-US" sz="1600" b="1">
                <a:solidFill>
                  <a:srgbClr val="101A2B"/>
                </a:solidFill>
                <a:latin typeface="Segoe UI" panose="020B0502040204020203" pitchFamily="34" charset="0"/>
              </a:rPr>
              <a:t>Ask</a:t>
            </a:r>
          </a:p>
        </p:txBody>
      </p:sp>
      <p:sp>
        <p:nvSpPr>
          <p:cNvPr id="15" name="TextBox 14">
            <a:extLst>
              <a:ext uri="{FF2B5EF4-FFF2-40B4-BE49-F238E27FC236}">
                <a16:creationId xmlns:a16="http://schemas.microsoft.com/office/drawing/2014/main" id="{05DE16B2-6B11-C816-A28E-5EF764EE2F20}"/>
              </a:ext>
            </a:extLst>
          </p:cNvPr>
          <p:cNvSpPr txBox="1"/>
          <p:nvPr/>
        </p:nvSpPr>
        <p:spPr>
          <a:xfrm>
            <a:off x="2717800" y="1714500"/>
            <a:ext cx="3302000" cy="200055"/>
          </a:xfrm>
          <a:prstGeom prst="rect">
            <a:avLst/>
          </a:prstGeom>
          <a:noFill/>
        </p:spPr>
        <p:txBody>
          <a:bodyPr vert="horz" wrap="square" lIns="0" tIns="0" rIns="0" bIns="0" rtlCol="0" anchor="t">
            <a:spAutoFit/>
          </a:bodyPr>
          <a:lstStyle/>
          <a:p>
            <a:r>
              <a:rPr lang="en-US" sz="1300">
                <a:solidFill>
                  <a:srgbClr val="262626"/>
                </a:solidFill>
                <a:latin typeface="Segoe UI" panose="020B0502040204020203" pitchFamily="34" charset="0"/>
              </a:rPr>
              <a:t>“Show warehouse usage for the last 7 days.”</a:t>
            </a:r>
          </a:p>
        </p:txBody>
      </p:sp>
      <p:sp>
        <p:nvSpPr>
          <p:cNvPr id="16" name="TextBox 15">
            <a:extLst>
              <a:ext uri="{FF2B5EF4-FFF2-40B4-BE49-F238E27FC236}">
                <a16:creationId xmlns:a16="http://schemas.microsoft.com/office/drawing/2014/main" id="{2797B59A-B14A-C07D-2F35-0705E36F2736}"/>
              </a:ext>
            </a:extLst>
          </p:cNvPr>
          <p:cNvSpPr txBox="1"/>
          <p:nvPr/>
        </p:nvSpPr>
        <p:spPr>
          <a:xfrm>
            <a:off x="533400" y="2781300"/>
            <a:ext cx="609600" cy="276999"/>
          </a:xfrm>
          <a:prstGeom prst="rect">
            <a:avLst/>
          </a:prstGeom>
          <a:noFill/>
        </p:spPr>
        <p:txBody>
          <a:bodyPr vert="horz" wrap="square" lIns="0" tIns="0" rIns="0" bIns="0" rtlCol="0" anchor="t">
            <a:spAutoFit/>
          </a:bodyPr>
          <a:lstStyle/>
          <a:p>
            <a:r>
              <a:rPr lang="en-US" b="1">
                <a:solidFill>
                  <a:srgbClr val="0078D4"/>
                </a:solidFill>
                <a:latin typeface="Segoe UI" panose="020B0502040204020203" pitchFamily="34" charset="0"/>
              </a:rPr>
              <a:t>02</a:t>
            </a:r>
          </a:p>
        </p:txBody>
      </p:sp>
      <p:sp>
        <p:nvSpPr>
          <p:cNvPr id="17" name="TextBox 16">
            <a:extLst>
              <a:ext uri="{FF2B5EF4-FFF2-40B4-BE49-F238E27FC236}">
                <a16:creationId xmlns:a16="http://schemas.microsoft.com/office/drawing/2014/main" id="{D26132FE-40CE-7316-F4A5-B19913A2C730}"/>
              </a:ext>
            </a:extLst>
          </p:cNvPr>
          <p:cNvSpPr txBox="1"/>
          <p:nvPr/>
        </p:nvSpPr>
        <p:spPr>
          <a:xfrm>
            <a:off x="1282700" y="2781300"/>
            <a:ext cx="1397000" cy="246221"/>
          </a:xfrm>
          <a:prstGeom prst="rect">
            <a:avLst/>
          </a:prstGeom>
          <a:noFill/>
        </p:spPr>
        <p:txBody>
          <a:bodyPr vert="horz" wrap="square" lIns="0" tIns="0" rIns="0" bIns="0" rtlCol="0" anchor="t">
            <a:spAutoFit/>
          </a:bodyPr>
          <a:lstStyle/>
          <a:p>
            <a:r>
              <a:rPr lang="en-US" sz="1600" b="1">
                <a:solidFill>
                  <a:srgbClr val="101A2B"/>
                </a:solidFill>
                <a:latin typeface="Segoe UI" panose="020B0502040204020203" pitchFamily="34" charset="0"/>
              </a:rPr>
              <a:t>Review</a:t>
            </a:r>
          </a:p>
        </p:txBody>
      </p:sp>
      <p:sp>
        <p:nvSpPr>
          <p:cNvPr id="18" name="TextBox 17">
            <a:extLst>
              <a:ext uri="{FF2B5EF4-FFF2-40B4-BE49-F238E27FC236}">
                <a16:creationId xmlns:a16="http://schemas.microsoft.com/office/drawing/2014/main" id="{4D8C1CB0-51F8-5761-19E4-94C30D192204}"/>
              </a:ext>
            </a:extLst>
          </p:cNvPr>
          <p:cNvSpPr txBox="1"/>
          <p:nvPr/>
        </p:nvSpPr>
        <p:spPr>
          <a:xfrm>
            <a:off x="2717800" y="2768600"/>
            <a:ext cx="3302000" cy="400110"/>
          </a:xfrm>
          <a:prstGeom prst="rect">
            <a:avLst/>
          </a:prstGeom>
          <a:noFill/>
        </p:spPr>
        <p:txBody>
          <a:bodyPr vert="horz" wrap="square" lIns="0" tIns="0" rIns="0" bIns="0" rtlCol="0" anchor="t">
            <a:spAutoFit/>
          </a:bodyPr>
          <a:lstStyle/>
          <a:p>
            <a:r>
              <a:rPr lang="en-US" sz="1300">
                <a:solidFill>
                  <a:srgbClr val="262626"/>
                </a:solidFill>
                <a:latin typeface="Segoe UI" panose="020B0502040204020203" pitchFamily="34" charset="0"/>
              </a:rPr>
              <a:t>Point out the approved operation and days parameter.</a:t>
            </a:r>
          </a:p>
        </p:txBody>
      </p:sp>
      <p:sp>
        <p:nvSpPr>
          <p:cNvPr id="19" name="TextBox 18">
            <a:extLst>
              <a:ext uri="{FF2B5EF4-FFF2-40B4-BE49-F238E27FC236}">
                <a16:creationId xmlns:a16="http://schemas.microsoft.com/office/drawing/2014/main" id="{5975A3B3-9480-1031-B47F-CF9D780D23D3}"/>
              </a:ext>
            </a:extLst>
          </p:cNvPr>
          <p:cNvSpPr txBox="1"/>
          <p:nvPr/>
        </p:nvSpPr>
        <p:spPr>
          <a:xfrm>
            <a:off x="533400" y="3835400"/>
            <a:ext cx="609600" cy="276999"/>
          </a:xfrm>
          <a:prstGeom prst="rect">
            <a:avLst/>
          </a:prstGeom>
          <a:noFill/>
        </p:spPr>
        <p:txBody>
          <a:bodyPr vert="horz" wrap="square" lIns="0" tIns="0" rIns="0" bIns="0" rtlCol="0" anchor="t">
            <a:spAutoFit/>
          </a:bodyPr>
          <a:lstStyle/>
          <a:p>
            <a:r>
              <a:rPr lang="en-US" b="1">
                <a:solidFill>
                  <a:srgbClr val="0078D4"/>
                </a:solidFill>
                <a:latin typeface="Segoe UI" panose="020B0502040204020203" pitchFamily="34" charset="0"/>
              </a:rPr>
              <a:t>03</a:t>
            </a:r>
          </a:p>
        </p:txBody>
      </p:sp>
      <p:sp>
        <p:nvSpPr>
          <p:cNvPr id="20" name="TextBox 19">
            <a:extLst>
              <a:ext uri="{FF2B5EF4-FFF2-40B4-BE49-F238E27FC236}">
                <a16:creationId xmlns:a16="http://schemas.microsoft.com/office/drawing/2014/main" id="{C69AF859-3E9D-3E02-85B4-D743512FE62E}"/>
              </a:ext>
            </a:extLst>
          </p:cNvPr>
          <p:cNvSpPr txBox="1"/>
          <p:nvPr/>
        </p:nvSpPr>
        <p:spPr>
          <a:xfrm>
            <a:off x="1282700" y="3835400"/>
            <a:ext cx="1397000" cy="246221"/>
          </a:xfrm>
          <a:prstGeom prst="rect">
            <a:avLst/>
          </a:prstGeom>
          <a:noFill/>
        </p:spPr>
        <p:txBody>
          <a:bodyPr vert="horz" wrap="square" lIns="0" tIns="0" rIns="0" bIns="0" rtlCol="0" anchor="t">
            <a:spAutoFit/>
          </a:bodyPr>
          <a:lstStyle/>
          <a:p>
            <a:r>
              <a:rPr lang="en-US" sz="1600" b="1">
                <a:solidFill>
                  <a:srgbClr val="101A2B"/>
                </a:solidFill>
                <a:latin typeface="Segoe UI" panose="020B0502040204020203" pitchFamily="34" charset="0"/>
              </a:rPr>
              <a:t>Approve</a:t>
            </a:r>
          </a:p>
        </p:txBody>
      </p:sp>
      <p:sp>
        <p:nvSpPr>
          <p:cNvPr id="21" name="TextBox 20">
            <a:extLst>
              <a:ext uri="{FF2B5EF4-FFF2-40B4-BE49-F238E27FC236}">
                <a16:creationId xmlns:a16="http://schemas.microsoft.com/office/drawing/2014/main" id="{BDFF8DB0-BD79-BF7B-C23F-22320F629698}"/>
              </a:ext>
            </a:extLst>
          </p:cNvPr>
          <p:cNvSpPr txBox="1"/>
          <p:nvPr/>
        </p:nvSpPr>
        <p:spPr>
          <a:xfrm>
            <a:off x="2717800" y="3822700"/>
            <a:ext cx="3302000" cy="400110"/>
          </a:xfrm>
          <a:prstGeom prst="rect">
            <a:avLst/>
          </a:prstGeom>
          <a:noFill/>
        </p:spPr>
        <p:txBody>
          <a:bodyPr vert="horz" wrap="square" lIns="0" tIns="0" rIns="0" bIns="0" rtlCol="0" anchor="t">
            <a:spAutoFit/>
          </a:bodyPr>
          <a:lstStyle/>
          <a:p>
            <a:r>
              <a:rPr lang="en-US" sz="1300">
                <a:solidFill>
                  <a:srgbClr val="262626"/>
                </a:solidFill>
                <a:latin typeface="Segoe UI" panose="020B0502040204020203" pitchFamily="34" charset="0"/>
              </a:rPr>
              <a:t>Explain that execution requires explicit confirmation.</a:t>
            </a:r>
          </a:p>
        </p:txBody>
      </p:sp>
      <p:sp>
        <p:nvSpPr>
          <p:cNvPr id="22" name="TextBox 21">
            <a:extLst>
              <a:ext uri="{FF2B5EF4-FFF2-40B4-BE49-F238E27FC236}">
                <a16:creationId xmlns:a16="http://schemas.microsoft.com/office/drawing/2014/main" id="{0CCC1EA2-A3D5-19BC-4F9D-E3386209A779}"/>
              </a:ext>
            </a:extLst>
          </p:cNvPr>
          <p:cNvSpPr txBox="1"/>
          <p:nvPr/>
        </p:nvSpPr>
        <p:spPr>
          <a:xfrm>
            <a:off x="533400" y="4889500"/>
            <a:ext cx="609600" cy="276999"/>
          </a:xfrm>
          <a:prstGeom prst="rect">
            <a:avLst/>
          </a:prstGeom>
          <a:noFill/>
        </p:spPr>
        <p:txBody>
          <a:bodyPr vert="horz" wrap="square" lIns="0" tIns="0" rIns="0" bIns="0" rtlCol="0" anchor="t">
            <a:spAutoFit/>
          </a:bodyPr>
          <a:lstStyle/>
          <a:p>
            <a:r>
              <a:rPr lang="en-US" b="1">
                <a:solidFill>
                  <a:srgbClr val="0078D4"/>
                </a:solidFill>
                <a:latin typeface="Segoe UI" panose="020B0502040204020203" pitchFamily="34" charset="0"/>
              </a:rPr>
              <a:t>04</a:t>
            </a:r>
          </a:p>
        </p:txBody>
      </p:sp>
      <p:sp>
        <p:nvSpPr>
          <p:cNvPr id="23" name="TextBox 22">
            <a:extLst>
              <a:ext uri="{FF2B5EF4-FFF2-40B4-BE49-F238E27FC236}">
                <a16:creationId xmlns:a16="http://schemas.microsoft.com/office/drawing/2014/main" id="{04CEA18D-14EE-6B6D-DD5B-7445967328EB}"/>
              </a:ext>
            </a:extLst>
          </p:cNvPr>
          <p:cNvSpPr txBox="1"/>
          <p:nvPr/>
        </p:nvSpPr>
        <p:spPr>
          <a:xfrm>
            <a:off x="1282700" y="4889500"/>
            <a:ext cx="1397000" cy="246221"/>
          </a:xfrm>
          <a:prstGeom prst="rect">
            <a:avLst/>
          </a:prstGeom>
          <a:noFill/>
        </p:spPr>
        <p:txBody>
          <a:bodyPr vert="horz" wrap="square" lIns="0" tIns="0" rIns="0" bIns="0" rtlCol="0" anchor="t">
            <a:spAutoFit/>
          </a:bodyPr>
          <a:lstStyle/>
          <a:p>
            <a:r>
              <a:rPr lang="en-US" sz="1600" b="1">
                <a:solidFill>
                  <a:srgbClr val="101A2B"/>
                </a:solidFill>
                <a:latin typeface="Segoe UI" panose="020B0502040204020203" pitchFamily="34" charset="0"/>
              </a:rPr>
              <a:t>Result</a:t>
            </a:r>
          </a:p>
        </p:txBody>
      </p:sp>
      <p:sp>
        <p:nvSpPr>
          <p:cNvPr id="24" name="TextBox 23">
            <a:extLst>
              <a:ext uri="{FF2B5EF4-FFF2-40B4-BE49-F238E27FC236}">
                <a16:creationId xmlns:a16="http://schemas.microsoft.com/office/drawing/2014/main" id="{93CD78FD-0687-ECD8-E6B5-79A75A9F88F5}"/>
              </a:ext>
            </a:extLst>
          </p:cNvPr>
          <p:cNvSpPr txBox="1"/>
          <p:nvPr/>
        </p:nvSpPr>
        <p:spPr>
          <a:xfrm>
            <a:off x="2717800" y="4876800"/>
            <a:ext cx="3302000" cy="200055"/>
          </a:xfrm>
          <a:prstGeom prst="rect">
            <a:avLst/>
          </a:prstGeom>
          <a:noFill/>
        </p:spPr>
        <p:txBody>
          <a:bodyPr vert="horz" wrap="square" lIns="0" tIns="0" rIns="0" bIns="0" rtlCol="0" anchor="t">
            <a:spAutoFit/>
          </a:bodyPr>
          <a:lstStyle/>
          <a:p>
            <a:r>
              <a:rPr lang="en-US" sz="1300">
                <a:solidFill>
                  <a:srgbClr val="262626"/>
                </a:solidFill>
                <a:latin typeface="Segoe UI" panose="020B0502040204020203" pitchFamily="34" charset="0"/>
              </a:rPr>
              <a:t>Show the structured two-row mock result.</a:t>
            </a:r>
          </a:p>
        </p:txBody>
      </p:sp>
      <p:sp>
        <p:nvSpPr>
          <p:cNvPr id="25" name="Rectangle: Rounded Corners 24">
            <a:extLst>
              <a:ext uri="{FF2B5EF4-FFF2-40B4-BE49-F238E27FC236}">
                <a16:creationId xmlns:a16="http://schemas.microsoft.com/office/drawing/2014/main" id="{373F2361-1BC9-8653-4D76-BBD25825B630}"/>
              </a:ext>
            </a:extLst>
          </p:cNvPr>
          <p:cNvSpPr/>
          <p:nvPr/>
        </p:nvSpPr>
        <p:spPr>
          <a:xfrm>
            <a:off x="6540500" y="5118100"/>
            <a:ext cx="5016500" cy="736600"/>
          </a:xfrm>
          <a:prstGeom prst="roundRect">
            <a:avLst/>
          </a:prstGeom>
          <a:solidFill>
            <a:srgbClr val="101A2B"/>
          </a:solidFill>
          <a:ln w="12700">
            <a:solidFill>
              <a:srgbClr val="101A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hlinkClick r:id="rId4"/>
            <a:extLst>
              <a:ext uri="{FF2B5EF4-FFF2-40B4-BE49-F238E27FC236}">
                <a16:creationId xmlns:a16="http://schemas.microsoft.com/office/drawing/2014/main" id="{FBD187B1-3A69-103A-CECB-4C91C99DCF87}"/>
              </a:ext>
            </a:extLst>
          </p:cNvPr>
          <p:cNvSpPr txBox="1"/>
          <p:nvPr/>
        </p:nvSpPr>
        <p:spPr>
          <a:xfrm>
            <a:off x="6807200" y="5346700"/>
            <a:ext cx="4445000" cy="230832"/>
          </a:xfrm>
          <a:prstGeom prst="rect">
            <a:avLst/>
          </a:prstGeom>
          <a:noFill/>
        </p:spPr>
        <p:txBody>
          <a:bodyPr vert="horz" wrap="square" lIns="0" tIns="0" rIns="0" bIns="0" rtlCol="0" anchor="t">
            <a:spAutoFit/>
          </a:bodyPr>
          <a:lstStyle/>
          <a:p>
            <a:pPr algn="ctr"/>
            <a:r>
              <a:rPr lang="en-US" sz="1500" b="1">
                <a:solidFill>
                  <a:srgbClr val="FFFFFF"/>
                </a:solidFill>
                <a:latin typeface="Segoe UI" panose="020B0502040204020203" pitchFamily="34" charset="0"/>
              </a:rPr>
              <a:t>Open the live Snowbridge demo  →</a:t>
            </a:r>
          </a:p>
        </p:txBody>
      </p:sp>
    </p:spTree>
    <p:extLst>
      <p:ext uri="{BB962C8B-B14F-4D97-AF65-F5344CB8AC3E}">
        <p14:creationId xmlns:p14="http://schemas.microsoft.com/office/powerpoint/2010/main" val="3798790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1A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3CC1E1-298A-D260-7163-2DF200A29C18}"/>
              </a:ext>
            </a:extLst>
          </p:cNvPr>
          <p:cNvSpPr/>
          <p:nvPr/>
        </p:nvSpPr>
        <p:spPr>
          <a:xfrm>
            <a:off x="609600" y="508000"/>
            <a:ext cx="127000" cy="127000"/>
          </a:xfrm>
          <a:prstGeom prst="rect">
            <a:avLst/>
          </a:prstGeom>
          <a:solidFill>
            <a:srgbClr val="D142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D94019D-C589-E1DF-5733-1D2984DE41C0}"/>
              </a:ext>
            </a:extLst>
          </p:cNvPr>
          <p:cNvSpPr/>
          <p:nvPr/>
        </p:nvSpPr>
        <p:spPr>
          <a:xfrm>
            <a:off x="762000" y="508000"/>
            <a:ext cx="127000" cy="127000"/>
          </a:xfrm>
          <a:prstGeom prst="rect">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711A1E9-4941-F193-8850-1D3A2499E53D}"/>
              </a:ext>
            </a:extLst>
          </p:cNvPr>
          <p:cNvSpPr/>
          <p:nvPr/>
        </p:nvSpPr>
        <p:spPr>
          <a:xfrm>
            <a:off x="609600" y="660400"/>
            <a:ext cx="127000" cy="127000"/>
          </a:xfrm>
          <a:prstGeom prst="rect">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AF073BF-5C57-FEC9-252F-219CA3EF6C98}"/>
              </a:ext>
            </a:extLst>
          </p:cNvPr>
          <p:cNvSpPr/>
          <p:nvPr/>
        </p:nvSpPr>
        <p:spPr>
          <a:xfrm>
            <a:off x="762000" y="660400"/>
            <a:ext cx="127000" cy="127000"/>
          </a:xfrm>
          <a:prstGeom prst="rect">
            <a:avLst/>
          </a:prstGeom>
          <a:solidFill>
            <a:srgbClr val="FFB7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4BA36E7-A695-8D8C-3F6F-0E3DDAB80CE9}"/>
              </a:ext>
            </a:extLst>
          </p:cNvPr>
          <p:cNvSpPr txBox="1"/>
          <p:nvPr/>
        </p:nvSpPr>
        <p:spPr>
          <a:xfrm>
            <a:off x="1041400" y="533400"/>
            <a:ext cx="1905000" cy="153888"/>
          </a:xfrm>
          <a:prstGeom prst="rect">
            <a:avLst/>
          </a:prstGeom>
          <a:noFill/>
        </p:spPr>
        <p:txBody>
          <a:bodyPr vert="horz" wrap="square" lIns="0" tIns="0" rIns="0" bIns="0" rtlCol="0" anchor="t">
            <a:spAutoFit/>
          </a:bodyPr>
          <a:lstStyle/>
          <a:p>
            <a:r>
              <a:rPr lang="en-US" sz="1000" b="1">
                <a:solidFill>
                  <a:srgbClr val="FFFFFF"/>
                </a:solidFill>
                <a:latin typeface="Segoe UI" panose="020B0502040204020203" pitchFamily="34" charset="0"/>
              </a:rPr>
              <a:t>SNOWBRIDGE</a:t>
            </a:r>
          </a:p>
        </p:txBody>
      </p:sp>
      <p:sp>
        <p:nvSpPr>
          <p:cNvPr id="7" name="TextBox 6">
            <a:extLst>
              <a:ext uri="{FF2B5EF4-FFF2-40B4-BE49-F238E27FC236}">
                <a16:creationId xmlns:a16="http://schemas.microsoft.com/office/drawing/2014/main" id="{1ECEA2BB-DB9F-72A6-42E4-D679A3ABFB03}"/>
              </a:ext>
            </a:extLst>
          </p:cNvPr>
          <p:cNvSpPr txBox="1"/>
          <p:nvPr/>
        </p:nvSpPr>
        <p:spPr>
          <a:xfrm>
            <a:off x="609600" y="1295400"/>
            <a:ext cx="9017000" cy="492443"/>
          </a:xfrm>
          <a:prstGeom prst="rect">
            <a:avLst/>
          </a:prstGeom>
          <a:noFill/>
        </p:spPr>
        <p:txBody>
          <a:bodyPr vert="horz" wrap="square" lIns="0" tIns="0" rIns="0" bIns="0" rtlCol="0" anchor="t">
            <a:spAutoFit/>
          </a:bodyPr>
          <a:lstStyle/>
          <a:p>
            <a:r>
              <a:rPr lang="en-US" sz="3200" b="1">
                <a:solidFill>
                  <a:srgbClr val="FFFFFF"/>
                </a:solidFill>
                <a:latin typeface="Segoe UI" panose="020B0502040204020203" pitchFamily="34" charset="0"/>
              </a:rPr>
              <a:t>Start governed. Expand deliberately.</a:t>
            </a:r>
          </a:p>
        </p:txBody>
      </p:sp>
      <p:sp>
        <p:nvSpPr>
          <p:cNvPr id="8" name="TextBox 7">
            <a:extLst>
              <a:ext uri="{FF2B5EF4-FFF2-40B4-BE49-F238E27FC236}">
                <a16:creationId xmlns:a16="http://schemas.microsoft.com/office/drawing/2014/main" id="{EAD9CEBE-BE53-3F2F-FA56-2E4246CE7A15}"/>
              </a:ext>
            </a:extLst>
          </p:cNvPr>
          <p:cNvSpPr txBox="1"/>
          <p:nvPr/>
        </p:nvSpPr>
        <p:spPr>
          <a:xfrm>
            <a:off x="609600" y="2120900"/>
            <a:ext cx="9334500" cy="523220"/>
          </a:xfrm>
          <a:prstGeom prst="rect">
            <a:avLst/>
          </a:prstGeom>
          <a:noFill/>
        </p:spPr>
        <p:txBody>
          <a:bodyPr vert="horz" wrap="square" lIns="0" tIns="0" rIns="0" bIns="0" rtlCol="0" anchor="t">
            <a:spAutoFit/>
          </a:bodyPr>
          <a:lstStyle/>
          <a:p>
            <a:r>
              <a:rPr lang="en-US" sz="1700">
                <a:solidFill>
                  <a:srgbClr val="D6E9F8"/>
                </a:solidFill>
                <a:latin typeface="Segoe UI" panose="020B0502040204020203" pitchFamily="34" charset="0"/>
              </a:rPr>
              <a:t>The MVP proves the control model before expanding the operation catalog and connecting a production Snowflake account.</a:t>
            </a:r>
          </a:p>
        </p:txBody>
      </p:sp>
      <p:sp>
        <p:nvSpPr>
          <p:cNvPr id="9" name="TextBox 8">
            <a:extLst>
              <a:ext uri="{FF2B5EF4-FFF2-40B4-BE49-F238E27FC236}">
                <a16:creationId xmlns:a16="http://schemas.microsoft.com/office/drawing/2014/main" id="{DAAC37FB-3940-659B-D489-60AE0EFDB885}"/>
              </a:ext>
            </a:extLst>
          </p:cNvPr>
          <p:cNvSpPr txBox="1"/>
          <p:nvPr/>
        </p:nvSpPr>
        <p:spPr>
          <a:xfrm>
            <a:off x="609600" y="3441700"/>
            <a:ext cx="1714500" cy="200055"/>
          </a:xfrm>
          <a:prstGeom prst="rect">
            <a:avLst/>
          </a:prstGeom>
          <a:noFill/>
        </p:spPr>
        <p:txBody>
          <a:bodyPr vert="horz" wrap="square" lIns="0" tIns="0" rIns="0" bIns="0" rtlCol="0" anchor="t">
            <a:spAutoFit/>
          </a:bodyPr>
          <a:lstStyle/>
          <a:p>
            <a:r>
              <a:rPr lang="en-US" sz="1300" b="1">
                <a:solidFill>
                  <a:srgbClr val="0078D4"/>
                </a:solidFill>
                <a:latin typeface="Segoe UI" panose="020B0502040204020203" pitchFamily="34" charset="0"/>
              </a:rPr>
              <a:t>NOW</a:t>
            </a:r>
          </a:p>
        </p:txBody>
      </p:sp>
      <p:sp>
        <p:nvSpPr>
          <p:cNvPr id="10" name="TextBox 9">
            <a:extLst>
              <a:ext uri="{FF2B5EF4-FFF2-40B4-BE49-F238E27FC236}">
                <a16:creationId xmlns:a16="http://schemas.microsoft.com/office/drawing/2014/main" id="{A14EB311-8C4F-1608-A481-C1DE18B3A71B}"/>
              </a:ext>
            </a:extLst>
          </p:cNvPr>
          <p:cNvSpPr txBox="1"/>
          <p:nvPr/>
        </p:nvSpPr>
        <p:spPr>
          <a:xfrm>
            <a:off x="609600" y="3924300"/>
            <a:ext cx="3302000" cy="1046440"/>
          </a:xfrm>
          <a:prstGeom prst="rect">
            <a:avLst/>
          </a:prstGeom>
          <a:noFill/>
        </p:spPr>
        <p:txBody>
          <a:bodyPr vert="horz" wrap="square" lIns="0" tIns="0" rIns="0" bIns="0" rtlCol="0" anchor="t">
            <a:spAutoFit/>
          </a:bodyPr>
          <a:lstStyle/>
          <a:p>
            <a:r>
              <a:rPr lang="en-US" sz="1700">
                <a:solidFill>
                  <a:srgbClr val="FFFFFF"/>
                </a:solidFill>
                <a:latin typeface="Segoe UI" panose="020B0502040204020203" pitchFamily="34" charset="0"/>
              </a:rPr>
              <a:t>Business UI</a:t>
            </a:r>
          </a:p>
          <a:p>
            <a:r>
              <a:rPr lang="en-US" sz="1700">
                <a:solidFill>
                  <a:srgbClr val="FFFFFF"/>
                </a:solidFill>
                <a:latin typeface="Segoe UI" panose="020B0502040204020203" pitchFamily="34" charset="0"/>
              </a:rPr>
              <a:t>Foundry planner</a:t>
            </a:r>
          </a:p>
          <a:p>
            <a:r>
              <a:rPr lang="en-US" sz="1700">
                <a:solidFill>
                  <a:srgbClr val="FFFFFF"/>
                </a:solidFill>
                <a:latin typeface="Segoe UI" panose="020B0502040204020203" pitchFamily="34" charset="0"/>
              </a:rPr>
              <a:t>Mock Snowflake adapter</a:t>
            </a:r>
          </a:p>
          <a:p>
            <a:r>
              <a:rPr lang="en-US" sz="1700">
                <a:solidFill>
                  <a:srgbClr val="FFFFFF"/>
                </a:solidFill>
                <a:latin typeface="Segoe UI" panose="020B0502040204020203" pitchFamily="34" charset="0"/>
              </a:rPr>
              <a:t>Azure deployment</a:t>
            </a:r>
          </a:p>
        </p:txBody>
      </p:sp>
      <p:sp>
        <p:nvSpPr>
          <p:cNvPr id="11" name="TextBox 10">
            <a:extLst>
              <a:ext uri="{FF2B5EF4-FFF2-40B4-BE49-F238E27FC236}">
                <a16:creationId xmlns:a16="http://schemas.microsoft.com/office/drawing/2014/main" id="{CDC81A1E-E1F0-3028-C8E0-C665B2B9DF4E}"/>
              </a:ext>
            </a:extLst>
          </p:cNvPr>
          <p:cNvSpPr txBox="1"/>
          <p:nvPr/>
        </p:nvSpPr>
        <p:spPr>
          <a:xfrm>
            <a:off x="4546600" y="3441700"/>
            <a:ext cx="1714500" cy="200055"/>
          </a:xfrm>
          <a:prstGeom prst="rect">
            <a:avLst/>
          </a:prstGeom>
          <a:noFill/>
        </p:spPr>
        <p:txBody>
          <a:bodyPr vert="horz" wrap="square" lIns="0" tIns="0" rIns="0" bIns="0" rtlCol="0" anchor="t">
            <a:spAutoFit/>
          </a:bodyPr>
          <a:lstStyle/>
          <a:p>
            <a:r>
              <a:rPr lang="en-US" sz="1300" b="1">
                <a:solidFill>
                  <a:srgbClr val="107C10"/>
                </a:solidFill>
                <a:latin typeface="Segoe UI" panose="020B0502040204020203" pitchFamily="34" charset="0"/>
              </a:rPr>
              <a:t>NEXT</a:t>
            </a:r>
          </a:p>
        </p:txBody>
      </p:sp>
      <p:sp>
        <p:nvSpPr>
          <p:cNvPr id="12" name="TextBox 11">
            <a:extLst>
              <a:ext uri="{FF2B5EF4-FFF2-40B4-BE49-F238E27FC236}">
                <a16:creationId xmlns:a16="http://schemas.microsoft.com/office/drawing/2014/main" id="{78F5CF9B-5E46-9D4D-CAC5-1D0E2F260A33}"/>
              </a:ext>
            </a:extLst>
          </p:cNvPr>
          <p:cNvSpPr txBox="1"/>
          <p:nvPr/>
        </p:nvSpPr>
        <p:spPr>
          <a:xfrm>
            <a:off x="4546600" y="3924300"/>
            <a:ext cx="3810000" cy="1046440"/>
          </a:xfrm>
          <a:prstGeom prst="rect">
            <a:avLst/>
          </a:prstGeom>
          <a:noFill/>
        </p:spPr>
        <p:txBody>
          <a:bodyPr vert="horz" wrap="square" lIns="0" tIns="0" rIns="0" bIns="0" rtlCol="0" anchor="t">
            <a:spAutoFit/>
          </a:bodyPr>
          <a:lstStyle/>
          <a:p>
            <a:r>
              <a:rPr lang="en-US" sz="1700">
                <a:solidFill>
                  <a:srgbClr val="FFFFFF"/>
                </a:solidFill>
                <a:latin typeface="Segoe UI" panose="020B0502040204020203" pitchFamily="34" charset="0"/>
              </a:rPr>
              <a:t>Production Snowflake identity</a:t>
            </a:r>
          </a:p>
          <a:p>
            <a:r>
              <a:rPr lang="en-US" sz="1700">
                <a:solidFill>
                  <a:srgbClr val="FFFFFF"/>
                </a:solidFill>
                <a:latin typeface="Segoe UI" panose="020B0502040204020203" pitchFamily="34" charset="0"/>
              </a:rPr>
              <a:t>Expanded approved operations</a:t>
            </a:r>
          </a:p>
          <a:p>
            <a:r>
              <a:rPr lang="en-US" sz="1700">
                <a:solidFill>
                  <a:srgbClr val="FFFFFF"/>
                </a:solidFill>
                <a:latin typeface="Segoe UI" panose="020B0502040204020203" pitchFamily="34" charset="0"/>
              </a:rPr>
              <a:t>Persistent job processing</a:t>
            </a:r>
          </a:p>
          <a:p>
            <a:r>
              <a:rPr lang="en-US" sz="1700">
                <a:solidFill>
                  <a:srgbClr val="FFFFFF"/>
                </a:solidFill>
                <a:latin typeface="Segoe UI" panose="020B0502040204020203" pitchFamily="34" charset="0"/>
              </a:rPr>
              <a:t>Enterprise audit integration</a:t>
            </a:r>
          </a:p>
        </p:txBody>
      </p:sp>
      <p:sp>
        <p:nvSpPr>
          <p:cNvPr id="13" name="Rectangle: Rounded Corners 12">
            <a:extLst>
              <a:ext uri="{FF2B5EF4-FFF2-40B4-BE49-F238E27FC236}">
                <a16:creationId xmlns:a16="http://schemas.microsoft.com/office/drawing/2014/main" id="{31CE2008-FE0E-6CD1-940F-1F2642483589}"/>
              </a:ext>
            </a:extLst>
          </p:cNvPr>
          <p:cNvSpPr/>
          <p:nvPr/>
        </p:nvSpPr>
        <p:spPr>
          <a:xfrm>
            <a:off x="9017000" y="3429000"/>
            <a:ext cx="2540000" cy="2209800"/>
          </a:xfrm>
          <a:prstGeom prst="round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41D1BAF-1954-D145-21A6-9E27DC3B87F7}"/>
              </a:ext>
            </a:extLst>
          </p:cNvPr>
          <p:cNvSpPr txBox="1"/>
          <p:nvPr/>
        </p:nvSpPr>
        <p:spPr>
          <a:xfrm>
            <a:off x="9296400" y="3708400"/>
            <a:ext cx="1981200" cy="200055"/>
          </a:xfrm>
          <a:prstGeom prst="rect">
            <a:avLst/>
          </a:prstGeom>
          <a:noFill/>
        </p:spPr>
        <p:txBody>
          <a:bodyPr vert="horz" wrap="square" lIns="0" tIns="0" rIns="0" bIns="0" rtlCol="0" anchor="t">
            <a:spAutoFit/>
          </a:bodyPr>
          <a:lstStyle/>
          <a:p>
            <a:pPr algn="ctr"/>
            <a:r>
              <a:rPr lang="en-US" sz="1300" b="1">
                <a:solidFill>
                  <a:srgbClr val="005B9A"/>
                </a:solidFill>
                <a:latin typeface="Segoe UI" panose="020B0502040204020203" pitchFamily="34" charset="0"/>
              </a:rPr>
              <a:t>Business outcome</a:t>
            </a:r>
          </a:p>
        </p:txBody>
      </p:sp>
      <p:sp>
        <p:nvSpPr>
          <p:cNvPr id="15" name="TextBox 14">
            <a:extLst>
              <a:ext uri="{FF2B5EF4-FFF2-40B4-BE49-F238E27FC236}">
                <a16:creationId xmlns:a16="http://schemas.microsoft.com/office/drawing/2014/main" id="{545805E2-8479-195C-F5BB-09B946251C73}"/>
              </a:ext>
            </a:extLst>
          </p:cNvPr>
          <p:cNvSpPr txBox="1"/>
          <p:nvPr/>
        </p:nvSpPr>
        <p:spPr>
          <a:xfrm>
            <a:off x="9296400" y="4191000"/>
            <a:ext cx="1981200" cy="1154162"/>
          </a:xfrm>
          <a:prstGeom prst="rect">
            <a:avLst/>
          </a:prstGeom>
          <a:noFill/>
        </p:spPr>
        <p:txBody>
          <a:bodyPr vert="horz" wrap="square" lIns="0" tIns="0" rIns="0" bIns="0" rtlCol="0" anchor="t">
            <a:spAutoFit/>
          </a:bodyPr>
          <a:lstStyle/>
          <a:p>
            <a:pPr algn="ctr"/>
            <a:r>
              <a:rPr lang="en-US" sz="1500" b="1">
                <a:solidFill>
                  <a:srgbClr val="101A2B"/>
                </a:solidFill>
                <a:latin typeface="Segoe UI" panose="020B0502040204020203" pitchFamily="34" charset="0"/>
              </a:rPr>
              <a:t>Faster access to approved operations with a clear, reviewable control boundary.</a:t>
            </a:r>
          </a:p>
        </p:txBody>
      </p:sp>
      <p:sp>
        <p:nvSpPr>
          <p:cNvPr id="16" name="TextBox 15">
            <a:hlinkClick r:id="rId3"/>
            <a:extLst>
              <a:ext uri="{FF2B5EF4-FFF2-40B4-BE49-F238E27FC236}">
                <a16:creationId xmlns:a16="http://schemas.microsoft.com/office/drawing/2014/main" id="{B268603B-C246-6B2D-FD24-31FAAA474719}"/>
              </a:ext>
            </a:extLst>
          </p:cNvPr>
          <p:cNvSpPr txBox="1"/>
          <p:nvPr/>
        </p:nvSpPr>
        <p:spPr>
          <a:xfrm>
            <a:off x="609600" y="6032500"/>
            <a:ext cx="1905000" cy="169277"/>
          </a:xfrm>
          <a:prstGeom prst="rect">
            <a:avLst/>
          </a:prstGeom>
          <a:noFill/>
        </p:spPr>
        <p:txBody>
          <a:bodyPr vert="horz" wrap="square" lIns="0" tIns="0" rIns="0" bIns="0" rtlCol="0" anchor="t">
            <a:spAutoFit/>
          </a:bodyPr>
          <a:lstStyle/>
          <a:p>
            <a:r>
              <a:rPr lang="en-US" sz="1100" b="1">
                <a:solidFill>
                  <a:srgbClr val="D6E9F8"/>
                </a:solidFill>
                <a:latin typeface="Segoe UI" panose="020B0502040204020203" pitchFamily="34" charset="0"/>
              </a:rPr>
              <a:t>GitHub repository</a:t>
            </a:r>
          </a:p>
        </p:txBody>
      </p:sp>
      <p:sp>
        <p:nvSpPr>
          <p:cNvPr id="17" name="TextBox 16">
            <a:hlinkClick r:id="rId4"/>
            <a:extLst>
              <a:ext uri="{FF2B5EF4-FFF2-40B4-BE49-F238E27FC236}">
                <a16:creationId xmlns:a16="http://schemas.microsoft.com/office/drawing/2014/main" id="{16554BCB-98C4-7F79-9635-7123332925FF}"/>
              </a:ext>
            </a:extLst>
          </p:cNvPr>
          <p:cNvSpPr txBox="1"/>
          <p:nvPr/>
        </p:nvSpPr>
        <p:spPr>
          <a:xfrm>
            <a:off x="9969500" y="6032500"/>
            <a:ext cx="1587500" cy="169277"/>
          </a:xfrm>
          <a:prstGeom prst="rect">
            <a:avLst/>
          </a:prstGeom>
          <a:noFill/>
        </p:spPr>
        <p:txBody>
          <a:bodyPr vert="horz" wrap="square" lIns="0" tIns="0" rIns="0" bIns="0" rtlCol="0" anchor="t">
            <a:spAutoFit/>
          </a:bodyPr>
          <a:lstStyle/>
          <a:p>
            <a:pPr algn="r"/>
            <a:r>
              <a:rPr lang="en-US" sz="1100" b="1">
                <a:solidFill>
                  <a:srgbClr val="D6E9F8"/>
                </a:solidFill>
                <a:latin typeface="Segoe UI" panose="020B0502040204020203" pitchFamily="34" charset="0"/>
              </a:rPr>
              <a:t>Live demo</a:t>
            </a:r>
          </a:p>
        </p:txBody>
      </p:sp>
    </p:spTree>
    <p:extLst>
      <p:ext uri="{BB962C8B-B14F-4D97-AF65-F5344CB8AC3E}">
        <p14:creationId xmlns:p14="http://schemas.microsoft.com/office/powerpoint/2010/main" val="283540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3</TotalTime>
  <Words>872</Words>
  <Application>Microsoft Office PowerPoint</Application>
  <PresentationFormat>Widescreen</PresentationFormat>
  <Paragraphs>146</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Ray Felipe</dc:creator>
  <cp:lastModifiedBy>Ray Felipe</cp:lastModifiedBy>
  <cp:revision>1</cp:revision>
  <dcterms:created xsi:type="dcterms:W3CDTF">2026-09-21T23:12:05Z</dcterms:created>
  <dcterms:modified xsi:type="dcterms:W3CDTF">2026-09-21T23:19:05Z</dcterms:modified>
</cp:coreProperties>
</file>